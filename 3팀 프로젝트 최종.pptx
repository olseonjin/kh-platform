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true" embedTrueTypeFonts="true">
  <p:sldMasterIdLst>
    <p:sldMasterId id="2147483660" r:id="rId19"/>
  </p:sld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Pretendard Light" panose="" pitchFamily="0" charset="0">
        <p:regular r:id="rId1"/>
      </p:font>
    </p:embeddedFont>
    <p:embeddedFont>
      <p:font typeface="Pretendard SemiBold" panose="" pitchFamily="589833" charset="655369">
        <p:bold r:id="rId2"/>
      </p:font>
    </p:embeddedFont>
    <p:embeddedFont>
      <p:font typeface="Pretendard Bold" panose="" pitchFamily="1701409906" charset="2013266035">
        <p:bold r:id="rId3"/>
      </p:font>
    </p:embeddedFont>
    <p:embeddedFont>
      <p:font typeface="Pretendard Regular" panose="" pitchFamily="4980768" charset="6750313">
        <p:regular r:id="rId4"/>
      </p:font>
    </p:embeddedFont>
    <p:embeddedFont>
      <p:font typeface="Pretendard Medium" panose="" pitchFamily="655369" charset="589834">
        <p:bold r:id="rId5"/>
      </p:font>
    </p:embeddedFont>
    <p:embeddedFont>
      <p:font typeface="Pretendard" panose="" pitchFamily="0" charset="0">
        <p:regular r:id="rId6"/>
      </p:font>
    </p:embeddedFont>
  </p:embeddedFontLst>
  <p:extLst>
    <p:ext uri="{EFAFB233-063F-42B5-8137-9DF3F51BA10A}">
      <p15:sldGuideLst xmlns:p15="http://schemas.microsoft.com/office/powerpoint/2012/main">
        <p15:guide id="0" orient="horz" pos="2159" userDrawn="1">
          <p15:clr>
            <a:srgbClr val="A4A3A4"/>
          </p15:clr>
        </p15:guide>
        <p15:guide id="1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napToGrid="1" snapToObjects="1">
      <p:cViewPr varScale="1">
        <p:scale>
          <a:sx n="74" d="100"/>
          <a:sy n="74" d="100"/>
        </p:scale>
        <p:origin x="-1092" y="-90"/>
      </p:cViewPr>
      <p:guideLst>
        <p:guide orient="horz" pos="2159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font" Target="fonts/font1.fntdata"></Relationship><Relationship Id="rId2" Type="http://schemas.openxmlformats.org/officeDocument/2006/relationships/font" Target="fonts/font2.fntdata"></Relationship><Relationship Id="rId3" Type="http://schemas.openxmlformats.org/officeDocument/2006/relationships/font" Target="fonts/font3.fntdata"></Relationship><Relationship Id="rId4" Type="http://schemas.openxmlformats.org/officeDocument/2006/relationships/font" Target="fonts/font4.fntdata"></Relationship><Relationship Id="rId5" Type="http://schemas.openxmlformats.org/officeDocument/2006/relationships/font" Target="fonts/font5.fntdata"></Relationship><Relationship Id="rId6" Type="http://schemas.openxmlformats.org/officeDocument/2006/relationships/font" Target="fonts/font6.fntdata"></Relationship><Relationship Id="rId7" Type="http://schemas.openxmlformats.org/officeDocument/2006/relationships/tableStyles" Target="tableStyles.xml"></Relationship><Relationship Id="rId19" Type="http://schemas.openxmlformats.org/officeDocument/2006/relationships/slideMaster" Target="slideMasters/slideMaster1.xml"></Relationship><Relationship Id="rId20" Type="http://schemas.openxmlformats.org/officeDocument/2006/relationships/theme" Target="theme/theme1.xml"></Relationship><Relationship Id="rId21" Type="http://schemas.openxmlformats.org/officeDocument/2006/relationships/slide" Target="slides/slide1.xml"></Relationship><Relationship Id="rId22" Type="http://schemas.openxmlformats.org/officeDocument/2006/relationships/slide" Target="slides/slide2.xml"></Relationship><Relationship Id="rId23" Type="http://schemas.openxmlformats.org/officeDocument/2006/relationships/slide" Target="slides/slide3.xml"></Relationship><Relationship Id="rId24" Type="http://schemas.openxmlformats.org/officeDocument/2006/relationships/slide" Target="slides/slide4.xml"></Relationship><Relationship Id="rId25" Type="http://schemas.openxmlformats.org/officeDocument/2006/relationships/slide" Target="slides/slide5.xml"></Relationship><Relationship Id="rId26" Type="http://schemas.openxmlformats.org/officeDocument/2006/relationships/slide" Target="slides/slide6.xml"></Relationship><Relationship Id="rId27" Type="http://schemas.openxmlformats.org/officeDocument/2006/relationships/slide" Target="slides/slide7.xml"></Relationship><Relationship Id="rId28" Type="http://schemas.openxmlformats.org/officeDocument/2006/relationships/slide" Target="slides/slide8.xml"></Relationship><Relationship Id="rId29" Type="http://schemas.openxmlformats.org/officeDocument/2006/relationships/slide" Target="slides/slide9.xml"></Relationship><Relationship Id="rId30" Type="http://schemas.openxmlformats.org/officeDocument/2006/relationships/slide" Target="slides/slide10.xml"></Relationship><Relationship Id="rId31" Type="http://schemas.openxmlformats.org/officeDocument/2006/relationships/slide" Target="slides/slide11.xml"></Relationship><Relationship Id="rId32" Type="http://schemas.openxmlformats.org/officeDocument/2006/relationships/slide" Target="slides/slide12.xml"></Relationship><Relationship Id="rId33" Type="http://schemas.openxmlformats.org/officeDocument/2006/relationships/slide" Target="slides/slide13.xml"></Relationship><Relationship Id="rId34" Type="http://schemas.openxmlformats.org/officeDocument/2006/relationships/slide" Target="slides/slide14.xml"></Relationship><Relationship Id="rId35" Type="http://schemas.openxmlformats.org/officeDocument/2006/relationships/slide" Target="slides/slide15.xml"></Relationship><Relationship Id="rId36" Type="http://schemas.openxmlformats.org/officeDocument/2006/relationships/slide" Target="slides/slide16.xml"></Relationship><Relationship Id="rId37" Type="http://schemas.openxmlformats.org/officeDocument/2006/relationships/slide" Target="slides/slide17.xml"></Relationship><Relationship Id="rId38" Type="http://schemas.openxmlformats.org/officeDocument/2006/relationships/slide" Target="slides/slide18.xml"></Relationship><Relationship Id="rId39" Type="http://schemas.openxmlformats.org/officeDocument/2006/relationships/slide" Target="slides/slide19.xml"></Relationship><Relationship Id="rId40" Type="http://schemas.openxmlformats.org/officeDocument/2006/relationships/slide" Target="slides/slide20.xml"></Relationship><Relationship Id="rId41" Type="http://schemas.openxmlformats.org/officeDocument/2006/relationships/slide" Target="slides/slide21.xml"></Relationship><Relationship Id="rId42" Type="http://schemas.openxmlformats.org/officeDocument/2006/relationships/slide" Target="slides/slide22.xml"></Relationship><Relationship Id="rId43" Type="http://schemas.openxmlformats.org/officeDocument/2006/relationships/slide" Target="slides/slide23.xml"></Relationship><Relationship Id="rId44" Type="http://schemas.openxmlformats.org/officeDocument/2006/relationships/slide" Target="slides/slide24.xml"></Relationship><Relationship Id="rId45" Type="http://schemas.openxmlformats.org/officeDocument/2006/relationships/viewProps" Target="viewProps.xml"></Relationship><Relationship Id="rId46" Type="http://schemas.openxmlformats.org/officeDocument/2006/relationships/presProps" Target="presProps.xml"></Relationship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16" Target="../media/image22.png" Type="http://schemas.openxmlformats.org/officeDocument/2006/relationships/image"/><Relationship Id="rId17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0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13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17" Target="../media/image38.png" Type="http://schemas.openxmlformats.org/officeDocument/2006/relationships/image"/><Relationship Id="rId18" Target="../media/image39.png" Type="http://schemas.openxmlformats.org/officeDocument/2006/relationships/image"/><Relationship Id="rId19" Target="../media/image40.png" Type="http://schemas.openxmlformats.org/officeDocument/2006/relationships/image"/><Relationship Id="rId2" Target="../media/image1.png" Type="http://schemas.openxmlformats.org/officeDocument/2006/relationships/image"/><Relationship Id="rId20" Target="../media/image41.png" Type="http://schemas.openxmlformats.org/officeDocument/2006/relationships/image"/><Relationship Id="rId21" Target="../media/image42.png" Type="http://schemas.openxmlformats.org/officeDocument/2006/relationships/image"/><Relationship Id="rId3" Target="../media/image3.png" Type="http://schemas.openxmlformats.org/officeDocument/2006/relationships/image"/><Relationship Id="rId4" Target="../media/image10.png" Type="http://schemas.openxmlformats.org/officeDocument/2006/relationships/image"/><Relationship Id="rId5" Target="../media/image24.png" Type="http://schemas.openxmlformats.org/officeDocument/2006/relationships/image"/><Relationship Id="rId6" Target="../media/image29.png" Type="http://schemas.openxmlformats.org/officeDocument/2006/relationships/image"/><Relationship Id="rId7" Target="../media/image13.png" Type="http://schemas.openxmlformats.org/officeDocument/2006/relationships/image"/><Relationship Id="rId8" Target="../media/image26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12" Target="../media/image49.png" Type="http://schemas.openxmlformats.org/officeDocument/2006/relationships/image"/><Relationship Id="rId13" Target="../media/image50.pn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10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13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13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png" Type="http://schemas.openxmlformats.org/officeDocument/2006/relationships/image"/><Relationship Id="rId12" Target="../media/image63.png" Type="http://schemas.openxmlformats.org/officeDocument/2006/relationships/image"/><Relationship Id="rId13" Target="../media/image64.png" Type="http://schemas.openxmlformats.org/officeDocument/2006/relationships/image"/><Relationship Id="rId14" Target="../media/image65.png" Type="http://schemas.openxmlformats.org/officeDocument/2006/relationships/image"/><Relationship Id="rId15" Target="../media/image66.png" Type="http://schemas.openxmlformats.org/officeDocument/2006/relationships/image"/><Relationship Id="rId16" Target="../media/image67.png" Type="http://schemas.openxmlformats.org/officeDocument/2006/relationships/image"/><Relationship Id="rId17" Target="../media/image6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13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png" Type="http://schemas.openxmlformats.org/officeDocument/2006/relationships/image"/><Relationship Id="rId12" Target="../media/image73.png" Type="http://schemas.openxmlformats.org/officeDocument/2006/relationships/image"/><Relationship Id="rId13" Target="../media/image74.png" Type="http://schemas.openxmlformats.org/officeDocument/2006/relationships/image"/><Relationship Id="rId14" Target="../media/image75.png" Type="http://schemas.openxmlformats.org/officeDocument/2006/relationships/image"/><Relationship Id="rId15" Target="../media/image76.png" Type="http://schemas.openxmlformats.org/officeDocument/2006/relationships/image"/><Relationship Id="rId16" Target="../media/image7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13.png" Type="http://schemas.openxmlformats.org/officeDocument/2006/relationships/image"/><Relationship Id="rId8" Target="../media/image69.pn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png" Type="http://schemas.openxmlformats.org/officeDocument/2006/relationships/image"/><Relationship Id="rId12" Target="../media/image82.png" Type="http://schemas.openxmlformats.org/officeDocument/2006/relationships/image"/><Relationship Id="rId13" Target="../media/image83.png" Type="http://schemas.openxmlformats.org/officeDocument/2006/relationships/image"/><Relationship Id="rId14" Target="../media/image84.png" Type="http://schemas.openxmlformats.org/officeDocument/2006/relationships/image"/><Relationship Id="rId15" Target="../media/image85.png" Type="http://schemas.openxmlformats.org/officeDocument/2006/relationships/image"/><Relationship Id="rId16" Target="../media/image8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13.png" Type="http://schemas.openxmlformats.org/officeDocument/2006/relationships/image"/><Relationship Id="rId8" Target="../media/image78.pn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png" Type="http://schemas.openxmlformats.org/officeDocument/2006/relationships/image"/><Relationship Id="rId12" Target="../media/image86.png" Type="http://schemas.openxmlformats.org/officeDocument/2006/relationships/image"/><Relationship Id="rId13" Target="../media/image82.png" Type="http://schemas.openxmlformats.org/officeDocument/2006/relationships/image"/><Relationship Id="rId14" Target="../media/image8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13.png" Type="http://schemas.openxmlformats.org/officeDocument/2006/relationships/image"/><Relationship Id="rId8" Target="../media/image87.pn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86.png" Type="http://schemas.openxmlformats.org/officeDocument/2006/relationships/image"/><Relationship Id="rId12" Target="../media/image9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13.png" Type="http://schemas.openxmlformats.org/officeDocument/2006/relationships/image"/><Relationship Id="rId8" Target="../media/image90.pn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png" Type="http://schemas.openxmlformats.org/officeDocument/2006/relationships/image"/><Relationship Id="rId11" Target="../media/image97.png" Type="http://schemas.openxmlformats.org/officeDocument/2006/relationships/image"/><Relationship Id="rId12" Target="../media/image98.png" Type="http://schemas.openxmlformats.org/officeDocument/2006/relationships/image"/><Relationship Id="rId13" Target="../media/image99.png" Type="http://schemas.openxmlformats.org/officeDocument/2006/relationships/image"/><Relationship Id="rId14" Target="../media/image100.png" Type="http://schemas.openxmlformats.org/officeDocument/2006/relationships/image"/><Relationship Id="rId15" Target="../media/image10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13.png" Type="http://schemas.openxmlformats.org/officeDocument/2006/relationships/image"/><Relationship Id="rId8" Target="../media/image94.png" Type="http://schemas.openxmlformats.org/officeDocument/2006/relationships/image"/><Relationship Id="rId9" Target="../media/image9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05.png" Type="http://schemas.openxmlformats.org/officeDocument/2006/relationships/image"/><Relationship Id="rId12" Target="../media/image106.png" Type="http://schemas.openxmlformats.org/officeDocument/2006/relationships/image"/><Relationship Id="rId13" Target="../media/image107.png" Type="http://schemas.openxmlformats.org/officeDocument/2006/relationships/image"/><Relationship Id="rId14" Target="../media/image108.png" Type="http://schemas.openxmlformats.org/officeDocument/2006/relationships/image"/><Relationship Id="rId15" Target="../media/image109.png" Type="http://schemas.openxmlformats.org/officeDocument/2006/relationships/image"/><Relationship Id="rId16" Target="../media/image1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13.png" Type="http://schemas.openxmlformats.org/officeDocument/2006/relationships/image"/><Relationship Id="rId8" Target="../media/image102.pn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3.png" Type="http://schemas.openxmlformats.org/officeDocument/2006/relationships/image"/><Relationship Id="rId11" Target="../media/image1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13.png" Type="http://schemas.openxmlformats.org/officeDocument/2006/relationships/image"/><Relationship Id="rId8" Target="../media/image111.png" Type="http://schemas.openxmlformats.org/officeDocument/2006/relationships/image"/><Relationship Id="rId9" Target="../media/image1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13.png" Type="http://schemas.openxmlformats.org/officeDocument/2006/relationships/image"/><Relationship Id="rId8" Target="../media/image115.png" Type="http://schemas.openxmlformats.org/officeDocument/2006/relationships/image"/><Relationship Id="rId9" Target="../media/image1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0.png" Type="http://schemas.openxmlformats.org/officeDocument/2006/relationships/image"/><Relationship Id="rId11" Target="../media/image121.png" Type="http://schemas.openxmlformats.org/officeDocument/2006/relationships/image"/><Relationship Id="rId12" Target="../media/image122.png" Type="http://schemas.openxmlformats.org/officeDocument/2006/relationships/image"/><Relationship Id="rId13" Target="../media/image12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13.png" Type="http://schemas.openxmlformats.org/officeDocument/2006/relationships/image"/><Relationship Id="rId8" Target="../media/image118.png" Type="http://schemas.openxmlformats.org/officeDocument/2006/relationships/image"/><Relationship Id="rId9" Target="../media/image1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13.png" Type="http://schemas.openxmlformats.org/officeDocument/2006/relationships/image"/><Relationship Id="rId8" Target="../media/image124.png" Type="http://schemas.openxmlformats.org/officeDocument/2006/relationships/image"/><Relationship Id="rId9" Target="../media/image12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13.png" Type="http://schemas.openxmlformats.org/officeDocument/2006/relationships/image"/><Relationship Id="rId8" Target="../media/image127.png" Type="http://schemas.openxmlformats.org/officeDocument/2006/relationships/image"/><Relationship Id="rId9" Target="../media/image12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13.png" Type="http://schemas.openxmlformats.org/officeDocument/2006/relationships/image"/><Relationship Id="rId8" Target="../media/image130.png" Type="http://schemas.openxmlformats.org/officeDocument/2006/relationships/image"/><Relationship Id="rId9" Target="../media/image13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13.png" Type="http://schemas.openxmlformats.org/officeDocument/2006/relationships/image"/><Relationship Id="rId8" Target="../media/image133.png" Type="http://schemas.openxmlformats.org/officeDocument/2006/relationships/image"/><Relationship Id="rId9" Target="../media/image13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8441_video_44195544.b41aec.mp4" Type="http://schemas.openxmlformats.org/officeDocument/2006/relationships/video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36.png" Type="http://schemas.openxmlformats.org/officeDocument/2006/relationships/image"/><Relationship Id="rId6" Target="../media/image137.png" Type="http://schemas.openxmlformats.org/officeDocument/2006/relationships/image"/><Relationship Id="rId7" Target="../media/image13.png" Type="http://schemas.openxmlformats.org/officeDocument/2006/relationships/image"/><Relationship Id="rId8" Target="../media/image138.png" Type="http://schemas.openxmlformats.org/officeDocument/2006/relationships/image"/><Relationship Id="rId9" Target="../media/8441_video_44195544.b41aec.mp4" Type="http://schemas.microsoft.com/office/2007/relationships/media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39.png" Type="http://schemas.openxmlformats.org/officeDocument/2006/relationships/image"/><Relationship Id="rId6" Target="../media/image140.png" Type="http://schemas.openxmlformats.org/officeDocument/2006/relationships/image"/><Relationship Id="rId7" Target="../media/image13.png" Type="http://schemas.openxmlformats.org/officeDocument/2006/relationships/image"/><Relationship Id="rId8" Target="../media/image141.png" Type="http://schemas.openxmlformats.org/officeDocument/2006/relationships/image"/><Relationship Id="rId9" Target="../media/image14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39.png" Type="http://schemas.openxmlformats.org/officeDocument/2006/relationships/image"/><Relationship Id="rId6" Target="../media/image140.png" Type="http://schemas.openxmlformats.org/officeDocument/2006/relationships/image"/><Relationship Id="rId7" Target="../media/image13.png" Type="http://schemas.openxmlformats.org/officeDocument/2006/relationships/image"/><Relationship Id="rId8" Target="../media/image141.png" Type="http://schemas.openxmlformats.org/officeDocument/2006/relationships/image"/><Relationship Id="rId9" Target="../media/image1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0287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 rot="0">
            <a:off x="1016000" y="7150100"/>
            <a:ext cx="16573500" cy="2273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2400" y="8559800"/>
            <a:ext cx="457200" cy="45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35000"/>
          </a:blip>
          <a:stretch>
            <a:fillRect/>
          </a:stretch>
        </p:blipFill>
        <p:spPr>
          <a:xfrm rot="0">
            <a:off x="1333500" y="8293100"/>
            <a:ext cx="156210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35100" y="2667000"/>
            <a:ext cx="1993900" cy="19558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019300" y="8585200"/>
            <a:ext cx="29210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4580"/>
              </a:lnSpc>
            </a:pPr>
            <a:r>
              <a:rPr lang="ko-KR" sz="2300" b="false" i="false" u="none" strike="noStrike" spc="100">
                <a:solidFill>
                  <a:srgbClr val="FFFFFF"/>
                </a:solidFill>
                <a:ea typeface="Pretendard Light"/>
              </a:rPr>
              <a:t>깃허브</a:t>
            </a:r>
            <a:r>
              <a:rPr lang="en-US" sz="2300" b="false" i="false" u="none" strike="noStrike" spc="100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300" b="false" i="false" u="none" strike="noStrike" spc="100">
                <a:solidFill>
                  <a:srgbClr val="FFFFFF"/>
                </a:solidFill>
                <a:ea typeface="Pretendard Light"/>
              </a:rPr>
              <a:t>주소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70000" y="7721600"/>
            <a:ext cx="28702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4580"/>
              </a:lnSpc>
            </a:pPr>
            <a:r>
              <a:rPr lang="en-US" sz="2300" b="false" i="false" u="none" strike="noStrike" spc="200">
                <a:solidFill>
                  <a:srgbClr val="FADE6E"/>
                </a:solidFill>
                <a:latin typeface="Pretendard Light"/>
              </a:rPr>
              <a:t>2025.04.15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2400" y="7327900"/>
            <a:ext cx="11836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458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3</a:t>
            </a:r>
            <a:r>
              <a:rPr lang="ko-KR" sz="4000" b="false" i="false" u="none" strike="noStrike">
                <a:solidFill>
                  <a:srgbClr val="FFFFFF"/>
                </a:solidFill>
                <a:ea typeface="Pretendard SemiBold"/>
              </a:rPr>
              <a:t>팀</a:t>
            </a: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 - </a:t>
            </a:r>
            <a:r>
              <a:rPr lang="ko-KR" sz="4000" b="false" i="false" u="none" strike="noStrike">
                <a:solidFill>
                  <a:srgbClr val="FFFFFF"/>
                </a:solidFill>
                <a:ea typeface="Pretendard SemiBold"/>
              </a:rPr>
              <a:t>김재훈</a:t>
            </a: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(</a:t>
            </a:r>
            <a:r>
              <a:rPr lang="ko-KR" sz="4000" b="false" i="false" u="none" strike="noStrike">
                <a:solidFill>
                  <a:srgbClr val="FFFFFF"/>
                </a:solidFill>
                <a:ea typeface="Pretendard SemiBold"/>
              </a:rPr>
              <a:t>팀장</a:t>
            </a: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), </a:t>
            </a:r>
            <a:r>
              <a:rPr lang="ko-KR" sz="4000" b="false" i="false" u="none" strike="noStrike">
                <a:solidFill>
                  <a:srgbClr val="FFFFFF"/>
                </a:solidFill>
                <a:ea typeface="Pretendard SemiBold"/>
              </a:rPr>
              <a:t>이선진</a:t>
            </a: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, </a:t>
            </a:r>
            <a:r>
              <a:rPr lang="ko-KR" sz="4000" b="false" i="false" u="none" strike="noStrike">
                <a:solidFill>
                  <a:srgbClr val="FFFFFF"/>
                </a:solidFill>
                <a:ea typeface="Pretendard SemiBold"/>
              </a:rPr>
              <a:t>이승빈</a:t>
            </a: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, </a:t>
            </a:r>
            <a:r>
              <a:rPr lang="ko-KR" sz="4000" b="false" i="false" u="none" strike="noStrike">
                <a:solidFill>
                  <a:srgbClr val="FFFFFF"/>
                </a:solidFill>
                <a:ea typeface="Pretendard SemiBold"/>
              </a:rPr>
              <a:t>박기현</a:t>
            </a: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, </a:t>
            </a:r>
            <a:r>
              <a:rPr lang="ko-KR" sz="4000" b="false" i="false" u="none" strike="noStrike">
                <a:solidFill>
                  <a:srgbClr val="FFFFFF"/>
                </a:solidFill>
                <a:ea typeface="Pretendard SemiBold"/>
              </a:rPr>
              <a:t>김용철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91000" y="2755900"/>
            <a:ext cx="12814300" cy="170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4580"/>
              </a:lnSpc>
            </a:pPr>
            <a:r>
              <a:rPr lang="en-US" sz="9500" b="false" i="false" u="none" strike="noStrike" spc="300">
                <a:solidFill>
                  <a:srgbClr val="FFFFFF"/>
                </a:solidFill>
                <a:latin typeface="ONE Mobile Title OTF"/>
              </a:rPr>
              <a:t>3</a:t>
            </a:r>
            <a:r>
              <a:rPr lang="ko-KR" sz="9500" b="false" i="false" u="none" strike="noStrike" spc="300">
                <a:solidFill>
                  <a:srgbClr val="FFFFFF"/>
                </a:solidFill>
                <a:ea typeface="ONE Mobile Title OTF"/>
              </a:rPr>
              <a:t>팀</a:t>
            </a:r>
            <a:r>
              <a:rPr lang="en-US" sz="9500" b="false" i="false" u="none" strike="noStrike" spc="300">
                <a:solidFill>
                  <a:srgbClr val="FFFFFF"/>
                </a:solidFill>
                <a:latin typeface="ONE Mobile Title OTF"/>
              </a:rPr>
              <a:t> - </a:t>
            </a:r>
            <a:r>
              <a:rPr lang="ko-KR" sz="9500" b="false" i="false" u="none" strike="noStrike" spc="300">
                <a:solidFill>
                  <a:srgbClr val="FFFFFF"/>
                </a:solidFill>
                <a:ea typeface="ONE Mobile Title OTF"/>
              </a:rPr>
              <a:t>팀</a:t>
            </a:r>
            <a:r>
              <a:rPr lang="en-US" sz="9500" b="false" i="false" u="none" strike="noStrike" spc="3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9500" b="false" i="false" u="none" strike="noStrike" spc="300">
                <a:solidFill>
                  <a:srgbClr val="FFFFFF"/>
                </a:solidFill>
                <a:ea typeface="ONE Mobile Title OTF"/>
              </a:rPr>
              <a:t>프로젝트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4800" y="660400"/>
            <a:ext cx="35941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300" b="false" i="false" u="none" strike="noStrike" spc="900">
                <a:solidFill>
                  <a:srgbClr val="FFFC9F"/>
                </a:solidFill>
                <a:latin typeface="Pretendard Bold"/>
              </a:rPr>
              <a:t>KH </a:t>
            </a:r>
            <a:r>
              <a:rPr lang="ko-KR" sz="2300" b="false" i="false" u="none" strike="noStrike" spc="900">
                <a:solidFill>
                  <a:srgbClr val="FFFC9F"/>
                </a:solidFill>
                <a:ea typeface="Pretendard Bold"/>
              </a:rPr>
              <a:t>팀프로젝트</a:t>
            </a:r>
            <a:r>
              <a:rPr lang="en-US" sz="2300" b="false" i="false" u="none" strike="noStrike" spc="900">
                <a:solidFill>
                  <a:srgbClr val="FFFC9F"/>
                </a:solidFill>
                <a:latin typeface="Pretendard Bold"/>
              </a:rPr>
              <a:t> 3</a:t>
            </a:r>
            <a:r>
              <a:rPr lang="ko-KR" sz="2300" b="false" i="false" u="none" strike="noStrike" spc="900">
                <a:solidFill>
                  <a:srgbClr val="FFFC9F"/>
                </a:solidFill>
                <a:ea typeface="Pretendard Bold"/>
              </a:rPr>
              <a:t>팀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41800" y="4470400"/>
            <a:ext cx="7632700" cy="1016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4580"/>
              </a:lnSpc>
            </a:pPr>
            <a:r>
              <a:rPr lang="ko-KR" sz="5700" b="false" i="false" u="none" strike="noStrike" spc="200">
                <a:solidFill>
                  <a:srgbClr val="FFFFFF"/>
                </a:solidFill>
                <a:ea typeface="ONE Mobile Title OTF"/>
              </a:rPr>
              <a:t>마이펫병원</a:t>
            </a:r>
            <a:r>
              <a:rPr lang="en-US" sz="5700" b="false" i="false" u="none" strike="noStrike" spc="2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5700" b="false" i="false" u="none" strike="noStrike" spc="200">
                <a:solidFill>
                  <a:srgbClr val="FFFFFF"/>
                </a:solidFill>
                <a:ea typeface="ONE Mobile Title OTF"/>
              </a:rPr>
              <a:t>플랫폼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129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0">
            <a:off x="14427200" y="6819900"/>
            <a:ext cx="1651000" cy="165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795500" y="7188200"/>
            <a:ext cx="914400" cy="914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900000">
            <a:off x="15392400" y="7442200"/>
            <a:ext cx="673100" cy="1117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883900" y="6223000"/>
            <a:ext cx="2514600" cy="195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708900" y="6223000"/>
            <a:ext cx="2514600" cy="1955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883900" y="2781300"/>
            <a:ext cx="2514600" cy="1955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708900" y="2781300"/>
            <a:ext cx="2514600" cy="1955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533900" y="2781300"/>
            <a:ext cx="2514600" cy="19558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1023600" y="6819900"/>
            <a:ext cx="2235200" cy="1028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자체</a:t>
            </a:r>
            <a:r>
              <a:rPr lang="en-US" sz="3000" b="false" i="false" u="none" strike="noStrike" spc="1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평가</a:t>
            </a:r>
          </a:p>
          <a:p>
            <a:pPr algn="ctr" lvl="0">
              <a:lnSpc>
                <a:spcPct val="108729"/>
              </a:lnSpc>
            </a:pP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의견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2500" y="8280400"/>
            <a:ext cx="20447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900" b="false" i="false" u="none" strike="noStrike" spc="100">
                <a:solidFill>
                  <a:srgbClr val="000000"/>
                </a:solidFill>
                <a:latin typeface="Pretendard Regular"/>
              </a:rPr>
              <a:t>CONTENTS 07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48600" y="6819900"/>
            <a:ext cx="2235200" cy="1028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프로젝트</a:t>
            </a:r>
          </a:p>
          <a:p>
            <a:pPr algn="ctr" lvl="0">
              <a:lnSpc>
                <a:spcPct val="108729"/>
              </a:lnSpc>
            </a:pP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시연</a:t>
            </a:r>
            <a:r>
              <a:rPr lang="en-US" sz="3000" b="false" i="false" u="none" strike="noStrike" spc="1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영상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37500" y="8280400"/>
            <a:ext cx="20447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900" b="false" i="false" u="none" strike="noStrike" spc="100">
                <a:solidFill>
                  <a:srgbClr val="000000"/>
                </a:solidFill>
                <a:latin typeface="Pretendard Regular"/>
              </a:rPr>
              <a:t>CONTENTS 06</a:t>
            </a:r>
          </a:p>
        </p:txBody>
      </p:sp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995400" y="2781300"/>
            <a:ext cx="2514600" cy="19558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4135100" y="3390900"/>
            <a:ext cx="2235200" cy="1028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화면구성</a:t>
            </a:r>
          </a:p>
          <a:p>
            <a:pPr algn="ctr" lvl="0">
              <a:lnSpc>
                <a:spcPct val="108729"/>
              </a:lnSpc>
            </a:pP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및</a:t>
            </a:r>
            <a:r>
              <a:rPr lang="en-US" sz="3000" b="false" i="false" u="none" strike="noStrike" spc="100">
                <a:solidFill>
                  <a:srgbClr val="FFFFFF"/>
                </a:solidFill>
                <a:latin typeface="ONE Mobile Title OTF"/>
              </a:rPr>
              <a:t> ERD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62500" y="8280400"/>
            <a:ext cx="20447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900" b="false" i="false" u="none" strike="noStrike" spc="100">
                <a:solidFill>
                  <a:srgbClr val="000000"/>
                </a:solidFill>
                <a:latin typeface="Pretendard Regular"/>
              </a:rPr>
              <a:t>CONTENTS 05</a:t>
            </a:r>
          </a:p>
        </p:txBody>
      </p:sp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533900" y="6210300"/>
            <a:ext cx="2514600" cy="19558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4673600" y="6807200"/>
            <a:ext cx="2235200" cy="1028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프로젝트</a:t>
            </a:r>
          </a:p>
          <a:p>
            <a:pPr algn="ctr" lvl="0">
              <a:lnSpc>
                <a:spcPct val="108729"/>
              </a:lnSpc>
            </a:pP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수행</a:t>
            </a:r>
            <a:r>
              <a:rPr lang="en-US" sz="3000" b="false" i="false" u="none" strike="noStrike" spc="1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경과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87500" y="4851400"/>
            <a:ext cx="20447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900" b="false" i="false" u="none" strike="noStrike" spc="100">
                <a:solidFill>
                  <a:srgbClr val="000000"/>
                </a:solidFill>
                <a:latin typeface="Pretendard Regular"/>
              </a:rPr>
              <a:t>CONTENTS 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23600" y="3390900"/>
            <a:ext cx="2235200" cy="1028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프로젝트</a:t>
            </a:r>
          </a:p>
          <a:p>
            <a:pPr algn="ctr" lvl="0">
              <a:lnSpc>
                <a:spcPct val="108729"/>
              </a:lnSpc>
            </a:pP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일정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12500" y="4851400"/>
            <a:ext cx="20447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900" b="false" i="false" u="none" strike="noStrike" spc="100">
                <a:solidFill>
                  <a:srgbClr val="000000"/>
                </a:solidFill>
                <a:latin typeface="Pretendard Regular"/>
              </a:rPr>
              <a:t>CONTENTS 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48600" y="3136900"/>
            <a:ext cx="2235200" cy="152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프로젝트</a:t>
            </a:r>
          </a:p>
          <a:p>
            <a:pPr algn="ctr" lvl="0">
              <a:lnSpc>
                <a:spcPct val="108729"/>
              </a:lnSpc>
            </a:pP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팀구성</a:t>
            </a:r>
          </a:p>
          <a:p>
            <a:pPr algn="ctr" lvl="0">
              <a:lnSpc>
                <a:spcPct val="108729"/>
              </a:lnSpc>
            </a:pP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및</a:t>
            </a:r>
            <a:r>
              <a:rPr lang="en-US" sz="3000" b="false" i="false" u="none" strike="noStrike" spc="1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역할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937500" y="4851400"/>
            <a:ext cx="20447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900" b="false" i="false" u="none" strike="noStrike" spc="100">
                <a:solidFill>
                  <a:srgbClr val="000000"/>
                </a:solidFill>
                <a:latin typeface="Pretendard Regular"/>
              </a:rPr>
              <a:t>CONTENTS 02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73600" y="3390900"/>
            <a:ext cx="2235200" cy="1028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프로젝트</a:t>
            </a:r>
          </a:p>
          <a:p>
            <a:pPr algn="ctr" lvl="0">
              <a:lnSpc>
                <a:spcPct val="108729"/>
              </a:lnSpc>
            </a:pPr>
            <a:r>
              <a:rPr lang="ko-KR" sz="3000" b="false" i="false" u="none" strike="noStrike" spc="100">
                <a:solidFill>
                  <a:srgbClr val="FFFFFF"/>
                </a:solidFill>
                <a:ea typeface="ONE Mobile Title OTF"/>
              </a:rPr>
              <a:t>개요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62500" y="4851400"/>
            <a:ext cx="20447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8729"/>
              </a:lnSpc>
            </a:pPr>
            <a:r>
              <a:rPr lang="en-US" sz="1900" b="false" i="false" u="none" strike="noStrike" spc="100">
                <a:solidFill>
                  <a:srgbClr val="000000"/>
                </a:solidFill>
                <a:latin typeface="Pretendard Regular"/>
              </a:rPr>
              <a:t>CONTENTS 01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84300" y="2590800"/>
            <a:ext cx="20066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7200" b="false" i="false" u="none" strike="noStrike" spc="500">
                <a:solidFill>
                  <a:srgbClr val="FADE6E"/>
                </a:solidFill>
                <a:ea typeface="ONE Mobile Title OTF"/>
              </a:rPr>
              <a:t>목차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129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5092700" y="2146300"/>
            <a:ext cx="81153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7200" b="false" i="false" u="none" strike="noStrike">
                <a:solidFill>
                  <a:srgbClr val="FBAE84"/>
                </a:solidFill>
                <a:ea typeface="ONE Mobile Title OTF"/>
              </a:rPr>
              <a:t>프로젝트</a:t>
            </a:r>
            <a:r>
              <a:rPr lang="en-US" sz="7200" b="false" i="false" u="none" strike="noStrike">
                <a:solidFill>
                  <a:srgbClr val="FBAE84"/>
                </a:solidFill>
                <a:latin typeface="ONE Mobile Title OTF"/>
              </a:rPr>
              <a:t> </a:t>
            </a:r>
            <a:r>
              <a:rPr lang="ko-KR" sz="7200" b="false" i="false" u="none" strike="noStrike">
                <a:solidFill>
                  <a:srgbClr val="FBAE84"/>
                </a:solidFill>
                <a:ea typeface="ONE Mobile Title OTF"/>
              </a:rPr>
              <a:t>개요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SUMMARY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87500" y="4051300"/>
            <a:ext cx="3009900" cy="596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49400" y="4445000"/>
            <a:ext cx="6972300" cy="4483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85300" y="4051300"/>
            <a:ext cx="3009900" cy="596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385300" y="4445000"/>
            <a:ext cx="7493000" cy="44831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906000" y="5499100"/>
            <a:ext cx="6426200" cy="2641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회원가입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기능</a:t>
            </a:r>
          </a:p>
          <a:p>
            <a:pPr algn="l" lvl="0">
              <a:lnSpc>
                <a:spcPct val="41500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마이페이지에서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확인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수정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탈퇴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기능</a:t>
            </a:r>
          </a:p>
          <a:p>
            <a:pPr algn="l" lvl="0">
              <a:lnSpc>
                <a:spcPct val="41500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반려동물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등록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수정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삭제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목록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조회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기능</a:t>
            </a:r>
          </a:p>
          <a:p>
            <a:pPr algn="l" lvl="0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기능별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처리와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연동을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위한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DB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MyBatis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매핑</a:t>
            </a:r>
          </a:p>
          <a:p>
            <a:pPr algn="l" lvl="0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편의를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고려한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UI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구성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20900" y="5905500"/>
            <a:ext cx="5321300" cy="196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반려동물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병원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이용자와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병원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관리자를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위한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통합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웹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플랫폼을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구축하여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사용자는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간편한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회원가입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반려동물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등록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관리</a:t>
            </a:r>
            <a:b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</a:b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병원은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펫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확인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등의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제공할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있도록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000000"/>
                </a:solidFill>
                <a:ea typeface="Pretendard Regular"/>
              </a:rPr>
              <a:t>한다</a:t>
            </a: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20900" y="4775200"/>
            <a:ext cx="3873500" cy="546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97540"/>
              </a:lnSpc>
            </a:pPr>
            <a:r>
              <a:rPr lang="ko-KR" sz="3100" b="false" i="false" u="none" strike="noStrike" spc="100">
                <a:solidFill>
                  <a:srgbClr val="000000"/>
                </a:solidFill>
                <a:ea typeface="ONE Mobile Title OTF"/>
              </a:rPr>
              <a:t>프로젝트</a:t>
            </a:r>
            <a:r>
              <a:rPr lang="en-US" sz="3100" b="false" i="false" u="none" strike="noStrike" spc="100">
                <a:solidFill>
                  <a:srgbClr val="000000"/>
                </a:solidFill>
                <a:latin typeface="ONE Mobile Title OTF"/>
              </a:rPr>
              <a:t> </a:t>
            </a:r>
            <a:r>
              <a:rPr lang="ko-KR" sz="3100" b="false" i="false" u="none" strike="noStrike" spc="100">
                <a:solidFill>
                  <a:srgbClr val="000000"/>
                </a:solidFill>
                <a:ea typeface="ONE Mobile Title OTF"/>
              </a:rPr>
              <a:t>목적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06000" y="4775200"/>
            <a:ext cx="3873500" cy="546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97540"/>
              </a:lnSpc>
            </a:pPr>
            <a:r>
              <a:rPr lang="ko-KR" sz="3100" b="false" i="false" u="none" strike="noStrike" spc="100">
                <a:solidFill>
                  <a:srgbClr val="000000"/>
                </a:solidFill>
                <a:ea typeface="ONE Mobile Title OTF"/>
              </a:rPr>
              <a:t>주요</a:t>
            </a:r>
            <a:r>
              <a:rPr lang="en-US" sz="3100" b="false" i="false" u="none" strike="noStrike" spc="100">
                <a:solidFill>
                  <a:srgbClr val="000000"/>
                </a:solidFill>
                <a:latin typeface="ONE Mobile Title OTF"/>
              </a:rPr>
              <a:t> </a:t>
            </a:r>
            <a:r>
              <a:rPr lang="ko-KR" sz="3100" b="false" i="false" u="none" strike="noStrike" spc="100">
                <a:solidFill>
                  <a:srgbClr val="000000"/>
                </a:solidFill>
                <a:ea typeface="ONE Mobile Title OTF"/>
              </a:rPr>
              <a:t>기능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27000" y="10668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69900" y="16129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6248400" y="1879600"/>
            <a:ext cx="5791200" cy="914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5100" b="false" i="false" u="none" strike="noStrike">
                <a:solidFill>
                  <a:srgbClr val="FBAE84"/>
                </a:solidFill>
                <a:ea typeface="ONE Mobile Title OTF"/>
              </a:rPr>
              <a:t>개발</a:t>
            </a:r>
            <a:r>
              <a:rPr lang="en-US" sz="5100" b="false" i="false" u="none" strike="noStrike">
                <a:solidFill>
                  <a:srgbClr val="FBAE84"/>
                </a:solidFill>
                <a:latin typeface="ONE Mobile Title OTF"/>
              </a:rPr>
              <a:t> </a:t>
            </a:r>
            <a:r>
              <a:rPr lang="ko-KR" sz="5100" b="false" i="false" u="none" strike="noStrike">
                <a:solidFill>
                  <a:srgbClr val="FBAE84"/>
                </a:solidFill>
                <a:ea typeface="ONE Mobile Title OTF"/>
              </a:rPr>
              <a:t>환경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SUMMARY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44600" y="2819400"/>
            <a:ext cx="3009900" cy="596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44600" y="3213100"/>
            <a:ext cx="7759700" cy="2679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625600" y="2806700"/>
            <a:ext cx="17907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LANGUAGE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47300" y="3848100"/>
            <a:ext cx="3162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ORACLE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70000" y="6057900"/>
            <a:ext cx="3009900" cy="774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70000" y="6642100"/>
            <a:ext cx="7747000" cy="2679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651000" y="6083300"/>
            <a:ext cx="18923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Server &amp; Development Tools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53100" y="8331200"/>
            <a:ext cx="23749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Spring Tool Suite 3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21800" y="2819400"/>
            <a:ext cx="3009900" cy="596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321800" y="3213100"/>
            <a:ext cx="7937500" cy="2679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9702800" y="2806700"/>
            <a:ext cx="17907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100" b="false" i="false" u="none" strike="noStrike">
                <a:solidFill>
                  <a:srgbClr val="000000"/>
                </a:solidFill>
                <a:latin typeface="Pretendard Regular"/>
              </a:rPr>
              <a:t>DATABASE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321800" y="6057900"/>
            <a:ext cx="3009900" cy="774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321800" y="6642100"/>
            <a:ext cx="7747000" cy="2679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668500" y="7454900"/>
            <a:ext cx="1943100" cy="1346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242800" y="7264400"/>
            <a:ext cx="2070100" cy="1600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613900" y="7239000"/>
            <a:ext cx="2628900" cy="876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473700" y="7264400"/>
            <a:ext cx="2641600" cy="977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51000" y="7137400"/>
            <a:ext cx="3060700" cy="1638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722100" y="3835400"/>
            <a:ext cx="3454400" cy="1524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25600" y="3721100"/>
            <a:ext cx="2628900" cy="16637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4495800" y="3721100"/>
            <a:ext cx="2311400" cy="1638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7035800" y="3556000"/>
            <a:ext cx="1536700" cy="19939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9702800" y="6083300"/>
            <a:ext cx="18923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Frameworks &amp; Libraries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77400" y="8305800"/>
            <a:ext cx="2324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Spring Framework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129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2984500" y="2146300"/>
            <a:ext cx="123190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7200" b="false" i="false" u="none" strike="noStrike">
                <a:solidFill>
                  <a:srgbClr val="9ECAEF"/>
                </a:solidFill>
                <a:ea typeface="ONE Mobile Title OTF"/>
              </a:rPr>
              <a:t>프로젝트</a:t>
            </a:r>
            <a:r>
              <a:rPr lang="en-US" sz="7200" b="false" i="false" u="none" strike="noStrike">
                <a:solidFill>
                  <a:srgbClr val="9ECAEF"/>
                </a:solidFill>
                <a:latin typeface="ONE Mobile Title OTF"/>
              </a:rPr>
              <a:t> </a:t>
            </a:r>
            <a:r>
              <a:rPr lang="ko-KR" sz="7200" b="false" i="false" u="none" strike="noStrike">
                <a:solidFill>
                  <a:srgbClr val="9ECAEF"/>
                </a:solidFill>
                <a:ea typeface="ONE Mobile Title OTF"/>
              </a:rPr>
              <a:t>팀구성</a:t>
            </a:r>
            <a:r>
              <a:rPr lang="en-US" sz="7200" b="false" i="false" u="none" strike="noStrike">
                <a:solidFill>
                  <a:srgbClr val="9ECAEF"/>
                </a:solidFill>
                <a:latin typeface="ONE Mobile Title OTF"/>
              </a:rPr>
              <a:t> </a:t>
            </a:r>
            <a:r>
              <a:rPr lang="ko-KR" sz="7200" b="false" i="false" u="none" strike="noStrike">
                <a:solidFill>
                  <a:srgbClr val="9ECAEF"/>
                </a:solidFill>
                <a:ea typeface="ONE Mobile Title OTF"/>
              </a:rPr>
              <a:t>및</a:t>
            </a:r>
            <a:r>
              <a:rPr lang="en-US" sz="7200" b="false" i="false" u="none" strike="noStrike">
                <a:solidFill>
                  <a:srgbClr val="9ECAEF"/>
                </a:solidFill>
                <a:latin typeface="ONE Mobile Title OTF"/>
              </a:rPr>
              <a:t> </a:t>
            </a:r>
            <a:r>
              <a:rPr lang="ko-KR" sz="7200" b="false" i="false" u="none" strike="noStrike">
                <a:solidFill>
                  <a:srgbClr val="9ECAEF"/>
                </a:solidFill>
                <a:ea typeface="ONE Mobile Title OTF"/>
              </a:rPr>
              <a:t>역할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TEAM MEMBER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058900" y="4051300"/>
            <a:ext cx="2997200" cy="4876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503400" y="4432300"/>
            <a:ext cx="2095500" cy="209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45800" y="4051300"/>
            <a:ext cx="2997200" cy="4876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303000" y="4432300"/>
            <a:ext cx="2095500" cy="2095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45400" y="4051300"/>
            <a:ext cx="2997200" cy="4876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102600" y="4432300"/>
            <a:ext cx="2095500" cy="2095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445000" y="4051300"/>
            <a:ext cx="2997200" cy="4876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889500" y="4432300"/>
            <a:ext cx="2095500" cy="2095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1900" y="4051300"/>
            <a:ext cx="2997200" cy="4876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89100" y="4432300"/>
            <a:ext cx="2095500" cy="2095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4414500" y="7480300"/>
            <a:ext cx="23241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ea typeface="Pretendard Regular"/>
              </a:rPr>
              <a:t>● Full-Stack</a:t>
            </a:r>
          </a:p>
          <a:p>
            <a:pPr algn="l" lvl="0">
              <a:lnSpc>
                <a:spcPct val="124499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ea typeface="Pretendard Regular"/>
              </a:rPr>
              <a:t>●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19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회원가입</a:t>
            </a:r>
          </a:p>
          <a:p>
            <a:pPr algn="l" lvl="0">
              <a:lnSpc>
                <a:spcPct val="124499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ea typeface="Pretendard Regular"/>
              </a:rPr>
              <a:t>●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메인</a:t>
            </a:r>
            <a:r>
              <a:rPr lang="en-US" sz="19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페이지</a:t>
            </a:r>
            <a:r>
              <a:rPr lang="en-US" sz="19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보조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57400" y="6743700"/>
            <a:ext cx="15748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97540"/>
              </a:lnSpc>
            </a:pPr>
            <a:r>
              <a:rPr lang="ko-KR" sz="3200" b="false" i="false" u="none" strike="noStrike" spc="100">
                <a:solidFill>
                  <a:srgbClr val="000000"/>
                </a:solidFill>
                <a:ea typeface="ONE Mobile Title OTF"/>
              </a:rPr>
              <a:t>김용철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14100" y="7670800"/>
            <a:ext cx="2413000" cy="69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ea typeface="Pretendard Regular"/>
              </a:rPr>
              <a:t>●Full-Stack</a:t>
            </a:r>
          </a:p>
          <a:p>
            <a:pPr algn="l" lvl="0">
              <a:lnSpc>
                <a:spcPct val="124499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ea typeface="Pretendard Regular"/>
              </a:rPr>
              <a:t>●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펫목록</a:t>
            </a:r>
            <a:r>
              <a:rPr lang="en-US" sz="19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펫등록</a:t>
            </a:r>
            <a:r>
              <a:rPr lang="en-US" sz="19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펫수정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44300" y="6743700"/>
            <a:ext cx="15748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97540"/>
              </a:lnSpc>
            </a:pPr>
            <a:r>
              <a:rPr lang="ko-KR" sz="3200" b="false" i="false" u="none" strike="noStrike" spc="100">
                <a:solidFill>
                  <a:srgbClr val="000000"/>
                </a:solidFill>
                <a:ea typeface="ONE Mobile Title OTF"/>
              </a:rPr>
              <a:t>박기현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01000" y="7658100"/>
            <a:ext cx="2324100" cy="69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ea typeface="Pretendard Regular"/>
              </a:rPr>
              <a:t>●Full-Stack</a:t>
            </a:r>
          </a:p>
          <a:p>
            <a:pPr algn="l" lvl="0">
              <a:lnSpc>
                <a:spcPct val="124499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ea typeface="Pretendard Regular"/>
              </a:rPr>
              <a:t>●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마이페이지</a:t>
            </a:r>
            <a:r>
              <a:rPr lang="en-US" sz="19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96300" y="6743700"/>
            <a:ext cx="12827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97540"/>
              </a:lnSpc>
            </a:pPr>
            <a:r>
              <a:rPr lang="ko-KR" sz="3200" b="false" i="false" u="none" strike="noStrike" spc="100">
                <a:solidFill>
                  <a:srgbClr val="000000"/>
                </a:solidFill>
                <a:ea typeface="ONE Mobile Title OTF"/>
              </a:rPr>
              <a:t>이승빈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00600" y="7658100"/>
            <a:ext cx="2324100" cy="69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ea typeface="Pretendard Regular"/>
              </a:rPr>
              <a:t>● Full-Stack</a:t>
            </a:r>
          </a:p>
          <a:p>
            <a:pPr algn="l" lvl="0">
              <a:lnSpc>
                <a:spcPct val="124499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ea typeface="Pretendard Regular"/>
              </a:rPr>
              <a:t>●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메인페이지</a:t>
            </a:r>
            <a:r>
              <a:rPr lang="en-US" sz="19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43500" y="6743700"/>
            <a:ext cx="15748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97540"/>
              </a:lnSpc>
            </a:pPr>
            <a:r>
              <a:rPr lang="ko-KR" sz="3200" b="false" i="false" u="none" strike="noStrike" spc="100">
                <a:solidFill>
                  <a:srgbClr val="000000"/>
                </a:solidFill>
                <a:ea typeface="ONE Mobile Title OTF"/>
              </a:rPr>
              <a:t>이선진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00200" y="7480300"/>
            <a:ext cx="23241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ea typeface="Pretendard Regular"/>
              </a:rPr>
              <a:t>● Full-Stack</a:t>
            </a:r>
          </a:p>
          <a:p>
            <a:pPr algn="l" lvl="0">
              <a:lnSpc>
                <a:spcPct val="124499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ea typeface="Pretendard Regular"/>
              </a:rPr>
              <a:t>● </a:t>
            </a:r>
            <a:r>
              <a:rPr lang="en-US" sz="1900" b="false" i="false" u="none" strike="noStrike">
                <a:solidFill>
                  <a:srgbClr val="000000"/>
                </a:solidFill>
                <a:latin typeface="Pretendard Regular"/>
              </a:rPr>
              <a:t>DB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19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  <a:p>
            <a:pPr algn="l" lvl="0">
              <a:lnSpc>
                <a:spcPct val="124499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ea typeface="Pretendard Regular"/>
              </a:rPr>
              <a:t>●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19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수정</a:t>
            </a:r>
            <a:r>
              <a:rPr lang="en-US" sz="19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Regular"/>
              </a:rPr>
              <a:t>페이지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09700" y="6743700"/>
            <a:ext cx="25527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97540"/>
              </a:lnSpc>
            </a:pPr>
            <a:r>
              <a:rPr lang="ko-KR" sz="3200" b="false" i="false" u="none" strike="noStrike" spc="100">
                <a:solidFill>
                  <a:srgbClr val="000000"/>
                </a:solidFill>
                <a:ea typeface="ONE Mobile Title OTF"/>
              </a:rPr>
              <a:t>김재훈</a:t>
            </a:r>
            <a:r>
              <a:rPr lang="en-US" sz="3200" b="false" i="false" u="none" strike="noStrike" spc="100">
                <a:solidFill>
                  <a:srgbClr val="000000"/>
                </a:solidFill>
                <a:latin typeface="ONE Mobile Title OTF"/>
              </a:rPr>
              <a:t>(</a:t>
            </a:r>
            <a:r>
              <a:rPr lang="ko-KR" sz="3200" b="false" i="false" u="none" strike="noStrike" spc="100">
                <a:solidFill>
                  <a:srgbClr val="000000"/>
                </a:solidFill>
                <a:ea typeface="ONE Mobile Title OTF"/>
              </a:rPr>
              <a:t>팀장</a:t>
            </a:r>
            <a:r>
              <a:rPr lang="en-US" sz="3200" b="false" i="false" u="none" strike="noStrike" spc="100">
                <a:solidFill>
                  <a:srgbClr val="000000"/>
                </a:solidFill>
                <a:latin typeface="ONE Mobile Title OTF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129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2984500" y="2146300"/>
            <a:ext cx="123190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7200" b="false" i="false" u="none" strike="noStrike">
                <a:solidFill>
                  <a:srgbClr val="89D8BD"/>
                </a:solidFill>
                <a:ea typeface="ONE Mobile Title OTF"/>
              </a:rPr>
              <a:t>프로젝트</a:t>
            </a:r>
            <a:r>
              <a:rPr lang="en-US" sz="7200" b="false" i="false" u="none" strike="noStrike">
                <a:solidFill>
                  <a:srgbClr val="89D8BD"/>
                </a:solidFill>
                <a:latin typeface="ONE Mobile Title OTF"/>
              </a:rPr>
              <a:t> </a:t>
            </a:r>
            <a:r>
              <a:rPr lang="ko-KR" sz="7200" b="false" i="false" u="none" strike="noStrike">
                <a:solidFill>
                  <a:srgbClr val="89D8BD"/>
                </a:solidFill>
                <a:ea typeface="ONE Mobile Title OTF"/>
              </a:rPr>
              <a:t>일정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SCHEDULE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2057400" y="3670300"/>
          <a:ext cx="14516100" cy="5257800"/>
        </p:xfrm>
        <a:graphic>
          <a:graphicData uri="http://schemas.openxmlformats.org/drawingml/2006/table">
            <a:tbl>
              <a:tblPr/>
              <a:tblGrid>
                <a:gridCol w="1346200"/>
                <a:gridCol w="1879600"/>
                <a:gridCol w="1879600"/>
                <a:gridCol w="1879600"/>
                <a:gridCol w="1879600"/>
                <a:gridCol w="1879600"/>
                <a:gridCol w="1879600"/>
                <a:gridCol w="1879600"/>
              </a:tblGrid>
              <a:tr h="8636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>
                          <a:solidFill>
                            <a:srgbClr val="C2C2C2"/>
                          </a:solidFill>
                          <a:latin typeface="Pretendard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 spc="200">
                          <a:solidFill>
                            <a:srgbClr val="9E9E9E"/>
                          </a:solidFill>
                          <a:latin typeface="Pretendard Medium"/>
                        </a:rPr>
                        <a:t>04/08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 spc="200">
                          <a:solidFill>
                            <a:srgbClr val="9E9E9E"/>
                          </a:solidFill>
                          <a:latin typeface="Pretendard Medium"/>
                        </a:rPr>
                        <a:t>04/09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 spc="200">
                          <a:solidFill>
                            <a:srgbClr val="9E9E9E"/>
                          </a:solidFill>
                          <a:latin typeface="Pretendard Medium"/>
                        </a:rPr>
                        <a:t>04/10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 spc="200">
                          <a:solidFill>
                            <a:srgbClr val="9E9E9E"/>
                          </a:solidFill>
                          <a:latin typeface="Pretendard Medium"/>
                        </a:rPr>
                        <a:t>04/11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 spc="200">
                          <a:solidFill>
                            <a:srgbClr val="9E9E9E"/>
                          </a:solidFill>
                          <a:latin typeface="Pretendard Medium"/>
                        </a:rPr>
                        <a:t>04/12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 spc="200">
                          <a:solidFill>
                            <a:srgbClr val="9E9E9E"/>
                          </a:solidFill>
                          <a:latin typeface="Pretendard Medium"/>
                        </a:rPr>
                        <a:t>04/13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 spc="200">
                          <a:solidFill>
                            <a:srgbClr val="9E9E9E"/>
                          </a:solidFill>
                          <a:latin typeface="Pretendard Medium"/>
                        </a:rPr>
                        <a:t>04/14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 spc="200">
                          <a:solidFill>
                            <a:srgbClr val="FFFFFF"/>
                          </a:solidFill>
                          <a:latin typeface="Pretendard Medium"/>
                        </a:rPr>
                        <a:t>STEP 01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B68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프로젝트</a:t>
                      </a: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계획</a:t>
                      </a: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수립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A9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 spc="200">
                          <a:solidFill>
                            <a:srgbClr val="FFFFFF"/>
                          </a:solidFill>
                          <a:latin typeface="Pretendard Medium"/>
                        </a:rPr>
                        <a:t>STEP 02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DB</a:t>
                      </a:r>
                      <a:r>
                        <a:rPr lang="ko-KR" sz="1800" b="false" i="false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구현</a:t>
                      </a:r>
                      <a:r>
                        <a:rPr lang="en-US" sz="1800" b="false" i="false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,</a:t>
                      </a:r>
                      <a:r>
                        <a:rPr lang="ko-KR" sz="1800" b="false" i="false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인터페이스</a:t>
                      </a:r>
                      <a:r>
                        <a:rPr lang="en-US" sz="1800" b="false" i="false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1800" b="false" i="false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구현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AD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52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 spc="200">
                          <a:solidFill>
                            <a:srgbClr val="FFFFFF"/>
                          </a:solidFill>
                          <a:latin typeface="Pretendard Medium"/>
                        </a:rPr>
                        <a:t>STEP 03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E8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프론트엔드</a:t>
                      </a: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</a:t>
                      </a: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 </a:t>
                      </a:r>
                      <a:r>
                        <a:rPr lang="ko-KR" sz="1700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백엔드</a:t>
                      </a: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구현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AD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AAD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 spc="200">
                          <a:solidFill>
                            <a:srgbClr val="FFFFFF"/>
                          </a:solidFill>
                          <a:latin typeface="Pretendard Medium"/>
                        </a:rPr>
                        <a:t>STEP 04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CA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1800" b="false" i="false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최적화</a:t>
                      </a:r>
                      <a:r>
                        <a:rPr lang="en-US" sz="1800" b="false" i="false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, </a:t>
                      </a:r>
                      <a:r>
                        <a:rPr lang="ko-KR" sz="1800" b="false" i="false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오류</a:t>
                      </a:r>
                      <a:r>
                        <a:rPr lang="en-US" sz="1800" b="false" i="false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1800" b="false" i="false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수정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1F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9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 spc="200">
                          <a:solidFill>
                            <a:srgbClr val="FFFFFF"/>
                          </a:solidFill>
                          <a:latin typeface="Pretendard Medium"/>
                        </a:rPr>
                        <a:t>STEP 05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D8B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800" b="false" i="false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1800" b="false" i="false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최종</a:t>
                      </a:r>
                      <a:r>
                        <a:rPr lang="en-US" sz="1800" b="false" i="false" u="none" strike="noStrike">
                          <a:solidFill>
                            <a:srgbClr val="000000"/>
                          </a:solidFill>
                          <a:latin typeface="Pretendard Medium"/>
                        </a:rPr>
                        <a:t> </a:t>
                      </a:r>
                      <a:r>
                        <a:rPr lang="ko-KR" sz="1800" b="false" i="false" u="none" strike="noStrike">
                          <a:solidFill>
                            <a:srgbClr val="000000"/>
                          </a:solidFill>
                          <a:ea typeface="Pretendard Medium"/>
                        </a:rPr>
                        <a:t>정리</a:t>
                      </a:r>
                      <a:endParaRPr lang="en-US" sz="1100"/>
                    </a:p>
                  </a:txBody>
                  <a:tcPr anchor="ctr" marL="19050" marT="19050" marR="19050" marB="19050">
                    <a:lnL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303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E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129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557000" y="3467100"/>
            <a:ext cx="4876800" cy="556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82700" y="3797300"/>
            <a:ext cx="8534400" cy="5232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759200" y="2133600"/>
            <a:ext cx="11137900" cy="1155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6500" b="false" i="false" u="none" strike="noStrike">
                <a:solidFill>
                  <a:srgbClr val="F6BA5B"/>
                </a:solidFill>
                <a:ea typeface="ONE Mobile Title OTF"/>
              </a:rPr>
              <a:t>화면구성</a:t>
            </a:r>
            <a:r>
              <a:rPr lang="en-US" sz="6500" b="false" i="false" u="none" strike="noStrike">
                <a:solidFill>
                  <a:srgbClr val="F6BA5B"/>
                </a:solidFill>
                <a:latin typeface="ONE Mobile Title OTF"/>
              </a:rPr>
              <a:t> </a:t>
            </a:r>
            <a:r>
              <a:rPr lang="ko-KR" sz="6500" b="false" i="false" u="none" strike="noStrike">
                <a:solidFill>
                  <a:srgbClr val="F6BA5B"/>
                </a:solidFill>
                <a:ea typeface="ONE Mobile Title OTF"/>
              </a:rPr>
              <a:t>및</a:t>
            </a:r>
            <a:r>
              <a:rPr lang="en-US" sz="6500" b="false" i="false" u="none" strike="noStrike">
                <a:solidFill>
                  <a:srgbClr val="F6BA5B"/>
                </a:solidFill>
                <a:latin typeface="ONE Mobile Title OTF"/>
              </a:rPr>
              <a:t> ERD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DIAGRAM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60400" y="16383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30400" y="3390900"/>
            <a:ext cx="9867900" cy="5969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930400" y="3365500"/>
            <a:ext cx="9867900" cy="596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813800" y="4152900"/>
            <a:ext cx="2984500" cy="609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1200000">
            <a:off x="11734800" y="3632200"/>
            <a:ext cx="2362200" cy="127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940800" y="3390900"/>
            <a:ext cx="2870200" cy="1371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099800" y="7454900"/>
            <a:ext cx="698500" cy="1892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836400" y="8293100"/>
            <a:ext cx="1816100" cy="127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235200" y="3390900"/>
            <a:ext cx="1244600" cy="469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-5280000">
            <a:off x="2578100" y="3022600"/>
            <a:ext cx="609600" cy="127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340000">
            <a:off x="10147300" y="3937000"/>
            <a:ext cx="330200" cy="1270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5435600" y="1612900"/>
            <a:ext cx="7404100" cy="154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프로젝트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 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수행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경과</a:t>
            </a:r>
            <a:b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</a:br>
            <a:r>
              <a:rPr lang="ko-KR" sz="3800" b="false" i="false" u="none" strike="noStrike">
                <a:solidFill>
                  <a:srgbClr val="F2BEBB"/>
                </a:solidFill>
                <a:ea typeface="ONE Mobile Title OTF"/>
              </a:rPr>
              <a:t>메인</a:t>
            </a:r>
            <a:r>
              <a:rPr lang="en-US" sz="38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3800" b="false" i="false" u="none" strike="noStrike">
                <a:solidFill>
                  <a:srgbClr val="F2BEBB"/>
                </a:solidFill>
                <a:ea typeface="ONE Mobile Title OTF"/>
              </a:rPr>
              <a:t>페이지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PROCESS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89100" y="3162300"/>
            <a:ext cx="31242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상단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메뉴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변경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944600" y="7467600"/>
            <a:ext cx="3670300" cy="196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버튼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클릭시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해당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사이트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열기</a:t>
            </a:r>
          </a:p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네이버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블로그</a:t>
            </a:r>
          </a:p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카카오톡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채널</a:t>
            </a:r>
          </a:p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인스타그램</a:t>
            </a:r>
          </a:p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지도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3500" y="1968500"/>
            <a:ext cx="40259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홈페이지에서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병원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로고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클릭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메인페이지로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이동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7526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289800" y="3479800"/>
            <a:ext cx="7340600" cy="5676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49300" y="3479800"/>
            <a:ext cx="6172200" cy="3759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62000" y="3479800"/>
            <a:ext cx="6172200" cy="3733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289800" y="3479800"/>
            <a:ext cx="7340600" cy="5676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5435600" y="1612900"/>
            <a:ext cx="7404100" cy="154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프로젝트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 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수행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경과</a:t>
            </a:r>
            <a:b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</a:br>
            <a:r>
              <a:rPr lang="ko-KR" sz="3800" b="false" i="false" u="none" strike="noStrike">
                <a:solidFill>
                  <a:srgbClr val="F2BEBB"/>
                </a:solidFill>
                <a:ea typeface="ONE Mobile Title OTF"/>
              </a:rPr>
              <a:t>로그인</a:t>
            </a:r>
            <a:r>
              <a:rPr lang="en-US" sz="3800" b="false" i="false" u="none" strike="noStrike">
                <a:solidFill>
                  <a:srgbClr val="F2BEBB"/>
                </a:solidFill>
                <a:latin typeface="ONE Mobile Title OTF"/>
              </a:rPr>
              <a:t>, </a:t>
            </a:r>
            <a:r>
              <a:rPr lang="ko-KR" sz="3800" b="false" i="false" u="none" strike="noStrike">
                <a:solidFill>
                  <a:srgbClr val="F2BEBB"/>
                </a:solidFill>
                <a:ea typeface="ONE Mobile Title OTF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PROCESS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840000">
            <a:off x="13322300" y="4699000"/>
            <a:ext cx="1295400" cy="127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4668500" y="4559300"/>
            <a:ext cx="21590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아이디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중복확인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기능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840000">
            <a:off x="13322300" y="6654800"/>
            <a:ext cx="1295400" cy="1270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4668500" y="6337300"/>
            <a:ext cx="2159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닉네임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중복확인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기능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-420000">
            <a:off x="13347700" y="5727700"/>
            <a:ext cx="1333500" cy="127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660000">
            <a:off x="13335000" y="5524500"/>
            <a:ext cx="1346200" cy="1270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4668500" y="5397500"/>
            <a:ext cx="24384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비밀번호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*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</a:p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비밀번호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재입력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확인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347700" y="7658100"/>
            <a:ext cx="1320800" cy="127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1020000">
            <a:off x="13309600" y="7454900"/>
            <a:ext cx="1384300" cy="127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4668500" y="7251700"/>
            <a:ext cx="21717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전화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번호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-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사용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양식</a:t>
            </a:r>
          </a:p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이메일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@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사용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양식</a:t>
            </a:r>
          </a:p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양식에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맞는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확인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510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2000" y="3898900"/>
            <a:ext cx="8686800" cy="4965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007600" y="3898900"/>
            <a:ext cx="7251700" cy="4965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00100" y="3937000"/>
            <a:ext cx="8648700" cy="4927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541000" y="3937000"/>
            <a:ext cx="6718300" cy="4927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051300" y="6769100"/>
            <a:ext cx="698500" cy="558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3568700" y="8089900"/>
            <a:ext cx="1638300" cy="127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749800" y="6794500"/>
            <a:ext cx="736600" cy="54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118100" y="8166100"/>
            <a:ext cx="5448300" cy="127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5340000">
            <a:off x="4686300" y="7759700"/>
            <a:ext cx="901700" cy="381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5435600" y="1612900"/>
            <a:ext cx="7404100" cy="154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프로젝트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 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수행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경과</a:t>
            </a:r>
            <a:b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</a:br>
            <a:r>
              <a:rPr lang="ko-KR" sz="3800" b="false" i="false" u="none" strike="noStrike">
                <a:solidFill>
                  <a:srgbClr val="F2BEBB"/>
                </a:solidFill>
                <a:ea typeface="ONE Mobile Title OTF"/>
              </a:rPr>
              <a:t>마이</a:t>
            </a:r>
            <a:r>
              <a:rPr lang="en-US" sz="38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3800" b="false" i="false" u="none" strike="noStrike">
                <a:solidFill>
                  <a:srgbClr val="F2BEBB"/>
                </a:solidFill>
                <a:ea typeface="ONE Mobile Title OTF"/>
              </a:rPr>
              <a:t>페이지</a:t>
            </a:r>
            <a:r>
              <a:rPr lang="en-US" sz="3800" b="false" i="false" u="none" strike="noStrike">
                <a:solidFill>
                  <a:srgbClr val="F2BEBB"/>
                </a:solidFill>
                <a:latin typeface="ONE Mobile Title OTF"/>
              </a:rPr>
              <a:t>(</a:t>
            </a:r>
            <a:r>
              <a:rPr lang="ko-KR" sz="3800" b="false" i="false" u="none" strike="noStrike">
                <a:solidFill>
                  <a:srgbClr val="F2BEBB"/>
                </a:solidFill>
                <a:ea typeface="ONE Mobile Title OTF"/>
              </a:rPr>
              <a:t>회원</a:t>
            </a:r>
            <a:r>
              <a:rPr lang="en-US" sz="38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3800" b="false" i="false" u="none" strike="noStrike">
                <a:solidFill>
                  <a:srgbClr val="F2BEBB"/>
                </a:solidFill>
                <a:ea typeface="ONE Mobile Title OTF"/>
              </a:rPr>
              <a:t>정보</a:t>
            </a:r>
            <a:r>
              <a:rPr lang="en-US" sz="38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3800" b="false" i="false" u="none" strike="noStrike">
                <a:solidFill>
                  <a:srgbClr val="F2BEBB"/>
                </a:solidFill>
                <a:ea typeface="ONE Mobile Title OTF"/>
              </a:rPr>
              <a:t>수정</a:t>
            </a:r>
            <a:r>
              <a:rPr lang="en-US" sz="3800" b="false" i="false" u="none" strike="noStrike">
                <a:solidFill>
                  <a:srgbClr val="F2BEBB"/>
                </a:solidFill>
                <a:latin typeface="ONE Mobile Title OTF"/>
              </a:rPr>
              <a:t>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PROCESS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16300" y="9232900"/>
            <a:ext cx="22225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펫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목록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페이지로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이동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05600" y="8382000"/>
            <a:ext cx="22225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수정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페이지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510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36700" y="3492500"/>
            <a:ext cx="6604000" cy="4800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896600" y="3492500"/>
            <a:ext cx="5219700" cy="5892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483100" y="6121400"/>
            <a:ext cx="736600" cy="546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851400" y="7493000"/>
            <a:ext cx="5448300" cy="127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5340000">
            <a:off x="4406900" y="7086600"/>
            <a:ext cx="901700" cy="38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451600" y="5143500"/>
            <a:ext cx="698500" cy="558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-300000">
            <a:off x="7150100" y="5334000"/>
            <a:ext cx="736600" cy="127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5435600" y="1651000"/>
            <a:ext cx="7404100" cy="154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프로젝트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 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수행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경과</a:t>
            </a:r>
            <a:b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</a:br>
            <a:r>
              <a:rPr lang="ko-KR" sz="3800" b="false" i="false" u="none" strike="noStrike">
                <a:solidFill>
                  <a:srgbClr val="F2BEBB"/>
                </a:solidFill>
                <a:ea typeface="ONE Mobile Title OTF"/>
              </a:rPr>
              <a:t>펫</a:t>
            </a:r>
            <a:r>
              <a:rPr lang="en-US" sz="38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3800" b="false" i="false" u="none" strike="noStrike">
                <a:solidFill>
                  <a:srgbClr val="F2BEBB"/>
                </a:solidFill>
                <a:ea typeface="ONE Mobile Title OTF"/>
              </a:rPr>
              <a:t>목록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PROCESS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65900" y="7835900"/>
            <a:ext cx="1219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펫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등록하기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66100" y="5194300"/>
            <a:ext cx="1219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펫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상세보기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510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47800" y="3898900"/>
            <a:ext cx="6654800" cy="4610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327400" y="6527800"/>
            <a:ext cx="914400" cy="546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695700" y="7899400"/>
            <a:ext cx="6553200" cy="12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340000">
            <a:off x="3251200" y="7493000"/>
            <a:ext cx="9017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325100" y="3898900"/>
            <a:ext cx="5219700" cy="46101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5435600" y="1612900"/>
            <a:ext cx="7404100" cy="154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프로젝트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 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수행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경과</a:t>
            </a:r>
            <a:b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</a:br>
            <a:r>
              <a:rPr lang="en-US" sz="3000" b="false" i="false" u="none" strike="noStrike">
                <a:solidFill>
                  <a:srgbClr val="F2BEBB"/>
                </a:solidFill>
                <a:latin typeface="ONE Mobile Title OTF"/>
              </a:rPr>
              <a:t>-</a:t>
            </a:r>
            <a:r>
              <a:rPr lang="ko-KR" sz="3000" b="false" i="false" u="none" strike="noStrike">
                <a:solidFill>
                  <a:srgbClr val="F2BEBB"/>
                </a:solidFill>
                <a:ea typeface="ONE Mobile Title OTF"/>
              </a:rPr>
              <a:t>펫</a:t>
            </a:r>
            <a:r>
              <a:rPr lang="en-US" sz="30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F2BEBB"/>
                </a:solidFill>
                <a:ea typeface="ONE Mobile Title OTF"/>
              </a:rPr>
              <a:t>상세보기</a:t>
            </a:r>
            <a:r>
              <a:rPr lang="en-US" sz="3000" b="false" i="false" u="none" strike="noStrike">
                <a:solidFill>
                  <a:srgbClr val="F2BEBB"/>
                </a:solidFill>
                <a:latin typeface="ONE Mobile Title OTF"/>
              </a:rPr>
              <a:t> ,  </a:t>
            </a:r>
            <a:r>
              <a:rPr lang="ko-KR" sz="3000" b="false" i="false" u="none" strike="noStrike">
                <a:solidFill>
                  <a:srgbClr val="F2BEBB"/>
                </a:solidFill>
                <a:ea typeface="ONE Mobile Title OTF"/>
              </a:rPr>
              <a:t>펫</a:t>
            </a:r>
            <a:r>
              <a:rPr lang="en-US" sz="30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F2BEBB"/>
                </a:solidFill>
                <a:ea typeface="ONE Mobile Title OTF"/>
              </a:rPr>
              <a:t>정보</a:t>
            </a:r>
            <a:r>
              <a:rPr lang="en-US" sz="30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F2BEBB"/>
                </a:solidFill>
                <a:ea typeface="ONE Mobile Title OTF"/>
              </a:rPr>
              <a:t>수정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PROCESS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24600" y="8166100"/>
            <a:ext cx="18415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펫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수정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510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683000" y="3390900"/>
            <a:ext cx="3898900" cy="6172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025900" y="4483100"/>
            <a:ext cx="2705100" cy="1727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660000">
            <a:off x="6692900" y="4991100"/>
            <a:ext cx="3048000" cy="127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241800" y="8890000"/>
            <a:ext cx="1587500" cy="355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360000">
            <a:off x="5829300" y="8890000"/>
            <a:ext cx="2235200" cy="127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025900" y="6210300"/>
            <a:ext cx="3365500" cy="1727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-60000">
            <a:off x="7391400" y="6997700"/>
            <a:ext cx="2628900" cy="127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5435600" y="1612900"/>
            <a:ext cx="7404100" cy="154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프로젝트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 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수행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경과</a:t>
            </a:r>
            <a:b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</a:br>
            <a:r>
              <a:rPr lang="en-US" sz="3000" b="false" i="false" u="none" strike="noStrike">
                <a:solidFill>
                  <a:srgbClr val="F2BEBB"/>
                </a:solidFill>
                <a:latin typeface="ONE Mobile Title OTF"/>
              </a:rPr>
              <a:t>view </a:t>
            </a:r>
            <a:r>
              <a:rPr lang="ko-KR" sz="3000" b="false" i="false" u="none" strike="noStrike">
                <a:solidFill>
                  <a:srgbClr val="F2BEBB"/>
                </a:solidFill>
                <a:ea typeface="ONE Mobile Title OTF"/>
              </a:rPr>
              <a:t>폴더</a:t>
            </a:r>
            <a:r>
              <a:rPr lang="en-US" sz="30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F2BEBB"/>
                </a:solidFill>
                <a:ea typeface="ONE Mobile Title OTF"/>
              </a:rPr>
              <a:t>구조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PROCESS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20300" y="3695700"/>
            <a:ext cx="2222500" cy="196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펫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목록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</a:p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펫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상세보기</a:t>
            </a:r>
          </a:p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펫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목록</a:t>
            </a:r>
          </a:p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펫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등록</a:t>
            </a:r>
          </a:p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펫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수정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42300" y="8674100"/>
            <a:ext cx="1511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메인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페이지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60000" y="6426200"/>
            <a:ext cx="1930400" cy="196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유저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</a:p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로그인</a:t>
            </a:r>
          </a:p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마이페이지</a:t>
            </a:r>
          </a:p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회원가입</a:t>
            </a:r>
          </a:p>
          <a:p>
            <a:pPr algn="l" lvl="0">
              <a:lnSpc>
                <a:spcPct val="99600"/>
              </a:lnSpc>
            </a:pP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회원정보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수정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673600" y="4127500"/>
            <a:ext cx="1587500" cy="355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-900000">
            <a:off x="6235700" y="4089400"/>
            <a:ext cx="1193800" cy="1270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7607300" y="3695700"/>
            <a:ext cx="12446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상단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Regular"/>
              </a:rPr>
              <a:t>메뉴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52500" y="18034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04900" y="3340100"/>
            <a:ext cx="5842000" cy="73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04900" y="4838700"/>
            <a:ext cx="5867400" cy="382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102600" y="3340100"/>
            <a:ext cx="7048500" cy="5003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102600" y="3848100"/>
            <a:ext cx="6337300" cy="2057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3540000">
            <a:off x="14147800" y="4318000"/>
            <a:ext cx="1193800" cy="127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089900" y="5994400"/>
            <a:ext cx="7023100" cy="128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-3420000">
            <a:off x="14909800" y="6210300"/>
            <a:ext cx="863600" cy="127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102600" y="7277100"/>
            <a:ext cx="5295900" cy="1066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1140000">
            <a:off x="13296900" y="8064500"/>
            <a:ext cx="1689100" cy="1270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333500" y="1663700"/>
            <a:ext cx="15608300" cy="1447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프로젝트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 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수행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경과</a:t>
            </a:r>
          </a:p>
          <a:p>
            <a:pPr algn="ctr" lvl="0">
              <a:lnSpc>
                <a:spcPct val="116199"/>
              </a:lnSpc>
            </a:pPr>
            <a:r>
              <a:rPr lang="en-US" sz="3800" b="false" i="false" u="none" strike="noStrike">
                <a:solidFill>
                  <a:srgbClr val="F2BEBB"/>
                </a:solidFill>
                <a:latin typeface="ONE Mobile Title OTF"/>
              </a:rPr>
              <a:t>pom.xml                                        servlet-context.xml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PROCESS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4900" y="4216400"/>
            <a:ext cx="4165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ea typeface="Pretendard Regular"/>
              </a:rPr>
              <a:t>▶ java, springframework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버전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설정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4900" y="8851900"/>
            <a:ext cx="56769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ea typeface="Pretendard Regular"/>
              </a:rPr>
              <a:t>▶Lombok, 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Spring JDBC, 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MyBatis, 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MyBatis-Spring</a:t>
            </a:r>
          </a:p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라이브러리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추가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51100" y="3238500"/>
            <a:ext cx="24257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ea typeface="Pretendard Regular"/>
              </a:rPr>
              <a:t>▶ DB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접속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정보를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설정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(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드라이버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, URL,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계정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582900" y="5435600"/>
            <a:ext cx="24257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ea typeface="Pretendard Regular"/>
              </a:rPr>
              <a:t>▶ MyBatis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에서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사용할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SQL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매퍼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(xml)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경로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지정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DB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연동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113000" y="8318500"/>
            <a:ext cx="24257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ea typeface="Pretendard Regular"/>
              </a:rPr>
              <a:t>▶ SQL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510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95500" y="3200400"/>
            <a:ext cx="5321300" cy="2755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70100" y="6375400"/>
            <a:ext cx="5321300" cy="2311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41000" y="3175000"/>
            <a:ext cx="4622800" cy="2755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541000" y="6375400"/>
            <a:ext cx="4622800" cy="23114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5435600" y="1612900"/>
            <a:ext cx="7404100" cy="154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프로젝트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 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수행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경과</a:t>
            </a:r>
            <a:b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</a:br>
            <a:r>
              <a:rPr lang="en-US" sz="3500" b="false" i="false" u="none" strike="noStrike">
                <a:solidFill>
                  <a:srgbClr val="F2BEBB"/>
                </a:solidFill>
                <a:latin typeface="ONE Mobile Title OTF"/>
              </a:rPr>
              <a:t>DAO, DTO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PROCESS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510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2000" y="3835400"/>
            <a:ext cx="5524500" cy="3187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286500" y="4089400"/>
            <a:ext cx="46990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709400" y="4140200"/>
            <a:ext cx="5156200" cy="20066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435600" y="1612900"/>
            <a:ext cx="7404100" cy="154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프로젝트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 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수행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경과</a:t>
            </a:r>
            <a:b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</a:br>
            <a:r>
              <a:rPr lang="ko-KR" sz="3500" b="false" i="false" u="none" strike="noStrike">
                <a:solidFill>
                  <a:srgbClr val="F2BEBB"/>
                </a:solidFill>
                <a:ea typeface="ONE Mobile Title OTF"/>
              </a:rPr>
              <a:t>로그인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PROCESS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098800"/>
            <a:ext cx="3060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&lt;UserController&gt;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71300" y="3136900"/>
            <a:ext cx="36195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&lt;UserServiceImpl&gt;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92900" y="3073400"/>
            <a:ext cx="3060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&lt;UserDAO.xml&gt;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7200" y="16129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531600" y="3898900"/>
            <a:ext cx="6172200" cy="1143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62000" y="3594100"/>
            <a:ext cx="6248400" cy="2311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62000" y="6235700"/>
            <a:ext cx="5892800" cy="3225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531600" y="5283200"/>
            <a:ext cx="5588000" cy="222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515100" y="3797300"/>
            <a:ext cx="4737100" cy="124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324600" y="5346700"/>
            <a:ext cx="5194300" cy="2209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5435600" y="1612900"/>
            <a:ext cx="7404100" cy="154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프로젝트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 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수행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경과</a:t>
            </a:r>
            <a:b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</a:br>
            <a:r>
              <a:rPr lang="ko-KR" sz="3500" b="false" i="false" u="none" strike="noStrike">
                <a:solidFill>
                  <a:srgbClr val="F2BEBB"/>
                </a:solidFill>
                <a:ea typeface="ONE Mobile Title OTF"/>
              </a:rPr>
              <a:t>회원가입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PROCESS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3900" y="3098800"/>
            <a:ext cx="3060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&lt;UserController&gt;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93500" y="3136900"/>
            <a:ext cx="36195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&lt;UserServiceImpl&gt;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02400" y="3073400"/>
            <a:ext cx="3060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&lt;UserDAO.xml&gt;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510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3911600"/>
            <a:ext cx="5219700" cy="3073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731000" y="4000500"/>
            <a:ext cx="4991100" cy="267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709400" y="4064000"/>
            <a:ext cx="5702300" cy="1651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435600" y="1612900"/>
            <a:ext cx="7404100" cy="154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프로젝트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 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수행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경과</a:t>
            </a:r>
            <a:b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</a:br>
            <a:r>
              <a:rPr lang="ko-KR" sz="3000" b="false" i="false" u="none" strike="noStrike">
                <a:solidFill>
                  <a:srgbClr val="F2BEBB"/>
                </a:solidFill>
                <a:ea typeface="ONE Mobile Title OTF"/>
              </a:rPr>
              <a:t>마이페이지</a:t>
            </a:r>
            <a:r>
              <a:rPr lang="en-US" sz="3000" b="false" i="false" u="none" strike="noStrike">
                <a:solidFill>
                  <a:srgbClr val="F2BEBB"/>
                </a:solidFill>
                <a:latin typeface="ONE Mobile Title OTF"/>
              </a:rPr>
              <a:t> (</a:t>
            </a:r>
            <a:r>
              <a:rPr lang="ko-KR" sz="3000" b="false" i="false" u="none" strike="noStrike">
                <a:solidFill>
                  <a:srgbClr val="F2BEBB"/>
                </a:solidFill>
                <a:ea typeface="ONE Mobile Title OTF"/>
              </a:rPr>
              <a:t>회원</a:t>
            </a:r>
            <a:r>
              <a:rPr lang="en-US" sz="30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3000" b="false" i="false" u="none" strike="noStrike">
                <a:solidFill>
                  <a:srgbClr val="F2BEBB"/>
                </a:solidFill>
                <a:ea typeface="ONE Mobile Title OTF"/>
              </a:rPr>
              <a:t>정보</a:t>
            </a:r>
            <a:r>
              <a:rPr lang="en-US" sz="3000" b="false" i="false" u="none" strike="noStrike">
                <a:solidFill>
                  <a:srgbClr val="F2BEBB"/>
                </a:solidFill>
                <a:latin typeface="ONE Mobile Title OTF"/>
              </a:rPr>
              <a:t>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PROCESS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098800"/>
            <a:ext cx="3060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&lt;UserController&gt;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71300" y="3136900"/>
            <a:ext cx="36195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&lt;UserServiceImpl&gt;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92900" y="3073400"/>
            <a:ext cx="3060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&lt;UserDAO.xml&gt;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510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4178300"/>
            <a:ext cx="5029200" cy="426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731000" y="4051300"/>
            <a:ext cx="4800600" cy="1790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887200" y="4229100"/>
            <a:ext cx="5029200" cy="21336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435600" y="1612900"/>
            <a:ext cx="7404100" cy="154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프로젝트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 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수행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경과</a:t>
            </a:r>
            <a:b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</a:br>
            <a:r>
              <a:rPr lang="ko-KR" sz="3500" b="false" i="false" u="none" strike="noStrike">
                <a:solidFill>
                  <a:srgbClr val="F2BEBB"/>
                </a:solidFill>
                <a:ea typeface="ONE Mobile Title OTF"/>
              </a:rPr>
              <a:t>펫목록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PROCESS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098800"/>
            <a:ext cx="3060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&lt;PetController&gt;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71300" y="3136900"/>
            <a:ext cx="36195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&lt;PetServiceImpl&gt;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92900" y="3073400"/>
            <a:ext cx="3060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&lt;PetDAO.xml&gt;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510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477000" y="4038600"/>
            <a:ext cx="4775200" cy="4013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52500" y="3924300"/>
            <a:ext cx="4178300" cy="3302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709400" y="4038600"/>
            <a:ext cx="5181600" cy="2425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435600" y="1612900"/>
            <a:ext cx="7404100" cy="154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프로젝트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 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수행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경과</a:t>
            </a:r>
            <a:b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</a:br>
            <a:r>
              <a:rPr lang="ko-KR" sz="3500" b="false" i="false" u="none" strike="noStrike">
                <a:solidFill>
                  <a:srgbClr val="F2BEBB"/>
                </a:solidFill>
                <a:ea typeface="ONE Mobile Title OTF"/>
              </a:rPr>
              <a:t>펫등록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PROCESS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098800"/>
            <a:ext cx="3060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&lt;PetController&gt;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71300" y="3136900"/>
            <a:ext cx="36195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&lt;PetServiceImpl&gt;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92900" y="3073400"/>
            <a:ext cx="3060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&lt;PetDAO.xml&gt;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510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2500" y="3670300"/>
            <a:ext cx="4838700" cy="557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731000" y="4114800"/>
            <a:ext cx="4724400" cy="2260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912600" y="4114800"/>
            <a:ext cx="4737100" cy="22606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435600" y="1612900"/>
            <a:ext cx="7404100" cy="154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프로젝트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 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수행</a:t>
            </a:r>
            <a:r>
              <a:rPr lang="en-US" sz="4300" b="false" i="false" u="none" strike="noStrike">
                <a:solidFill>
                  <a:srgbClr val="F2BEBB"/>
                </a:solidFill>
                <a:latin typeface="ONE Mobile Title OTF"/>
              </a:rPr>
              <a:t> </a:t>
            </a:r>
            <a: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  <a:t>경과</a:t>
            </a:r>
            <a:br>
              <a:rPr lang="ko-KR" sz="4300" b="false" i="false" u="none" strike="noStrike">
                <a:solidFill>
                  <a:srgbClr val="F2BEBB"/>
                </a:solidFill>
                <a:ea typeface="ONE Mobile Title OTF"/>
              </a:rPr>
            </a:br>
            <a:r>
              <a:rPr lang="ko-KR" sz="3500" b="false" i="false" u="none" strike="noStrike">
                <a:solidFill>
                  <a:srgbClr val="F2BEBB"/>
                </a:solidFill>
                <a:ea typeface="ONE Mobile Title OTF"/>
              </a:rPr>
              <a:t>펫수정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PROCESS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098800"/>
            <a:ext cx="3060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&lt;PetController&gt;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71300" y="3136900"/>
            <a:ext cx="36195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&lt;PetServiceImpl&gt;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92900" y="3073400"/>
            <a:ext cx="3060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</a:rPr>
              <a:t>&lt;PetDAO.xml&gt;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129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pic>
        <p:nvPicPr>
          <p:cNvPr name="Picture 8" id="8">
            <a:hlinkClick r:id="" action="ppaction://media"/>
          </p:cNvPr>
          <p:cNvPicPr>
            <a:picLocks noChangeAspect="true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>
                  <p14:trim st="0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 rot="0">
            <a:off x="3975100" y="3695700"/>
            <a:ext cx="10083800" cy="56642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984500" y="2146300"/>
            <a:ext cx="123190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7200" b="false" i="false" u="none" strike="noStrike">
                <a:solidFill>
                  <a:srgbClr val="78CDE0"/>
                </a:solidFill>
                <a:ea typeface="ONE Mobile Title OTF"/>
              </a:rPr>
              <a:t>프로젝트</a:t>
            </a:r>
            <a:r>
              <a:rPr lang="en-US" sz="7200" b="false" i="false" u="none" strike="noStrike">
                <a:solidFill>
                  <a:srgbClr val="78CDE0"/>
                </a:solidFill>
                <a:latin typeface="ONE Mobile Title OTF"/>
              </a:rPr>
              <a:t> </a:t>
            </a:r>
            <a:r>
              <a:rPr lang="ko-KR" sz="7200" b="false" i="false" u="none" strike="noStrike">
                <a:solidFill>
                  <a:srgbClr val="78CDE0"/>
                </a:solidFill>
                <a:ea typeface="ONE Mobile Title OTF"/>
              </a:rPr>
              <a:t>시연</a:t>
            </a:r>
            <a:r>
              <a:rPr lang="en-US" sz="7200" b="false" i="false" u="none" strike="noStrike">
                <a:solidFill>
                  <a:srgbClr val="78CDE0"/>
                </a:solidFill>
                <a:latin typeface="ONE Mobile Title OTF"/>
              </a:rPr>
              <a:t> </a:t>
            </a:r>
            <a:r>
              <a:rPr lang="ko-KR" sz="7200" b="false" i="false" u="none" strike="noStrike">
                <a:solidFill>
                  <a:srgbClr val="78CDE0"/>
                </a:solidFill>
                <a:ea typeface="ONE Mobile Title OTF"/>
              </a:rPr>
              <a:t>영상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VIDEO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8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16129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2984500" y="2146300"/>
            <a:ext cx="123190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7200" b="false" i="false" u="none" strike="noStrike">
                <a:solidFill>
                  <a:srgbClr val="CFBFE6"/>
                </a:solidFill>
                <a:ea typeface="ONE Mobile Title OTF"/>
              </a:rPr>
              <a:t>자체</a:t>
            </a:r>
            <a:r>
              <a:rPr lang="en-US" sz="7200" b="false" i="false" u="none" strike="noStrike">
                <a:solidFill>
                  <a:srgbClr val="CFBFE6"/>
                </a:solidFill>
                <a:latin typeface="ONE Mobile Title OTF"/>
              </a:rPr>
              <a:t> </a:t>
            </a:r>
            <a:r>
              <a:rPr lang="ko-KR" sz="7200" b="false" i="false" u="none" strike="noStrike">
                <a:solidFill>
                  <a:srgbClr val="CFBFE6"/>
                </a:solidFill>
                <a:ea typeface="ONE Mobile Title OTF"/>
              </a:rPr>
              <a:t>평가</a:t>
            </a:r>
            <a:r>
              <a:rPr lang="en-US" sz="7200" b="false" i="false" u="none" strike="noStrike">
                <a:solidFill>
                  <a:srgbClr val="CFBFE6"/>
                </a:solidFill>
                <a:latin typeface="ONE Mobile Title OTF"/>
              </a:rPr>
              <a:t> </a:t>
            </a:r>
            <a:r>
              <a:rPr lang="ko-KR" sz="7200" b="false" i="false" u="none" strike="noStrike">
                <a:solidFill>
                  <a:srgbClr val="CFBFE6"/>
                </a:solidFill>
                <a:ea typeface="ONE Mobile Title OTF"/>
              </a:rPr>
              <a:t>의견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REVIEW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141200" y="3822700"/>
            <a:ext cx="4927600" cy="566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141200" y="3822700"/>
            <a:ext cx="4953000" cy="1181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2865100" y="4140200"/>
            <a:ext cx="3479800" cy="635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3600" b="false" i="false" u="none" strike="noStrike" spc="100">
                <a:solidFill>
                  <a:srgbClr val="FFFFFF"/>
                </a:solidFill>
                <a:ea typeface="ONE Mobile Title OTF"/>
              </a:rPr>
              <a:t>이</a:t>
            </a:r>
            <a:r>
              <a:rPr lang="en-US" sz="3600" b="false" i="false" u="none" strike="noStrike" spc="1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3600" b="false" i="false" u="none" strike="noStrike" spc="100">
                <a:solidFill>
                  <a:srgbClr val="FFFFFF"/>
                </a:solidFill>
                <a:ea typeface="ONE Mobile Title OTF"/>
              </a:rPr>
              <a:t>승</a:t>
            </a:r>
            <a:r>
              <a:rPr lang="en-US" sz="3600" b="false" i="false" u="none" strike="noStrike" spc="1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3600" b="false" i="false" u="none" strike="noStrike" spc="100">
                <a:solidFill>
                  <a:srgbClr val="FFFFFF"/>
                </a:solidFill>
                <a:ea typeface="ONE Mobile Title OTF"/>
              </a:rPr>
              <a:t>빈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44600" y="3822700"/>
            <a:ext cx="4927600" cy="5664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44600" y="3822700"/>
            <a:ext cx="4953000" cy="1181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968500" y="4140200"/>
            <a:ext cx="3479800" cy="635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3600" b="false" i="false" u="none" strike="noStrike" spc="100">
                <a:solidFill>
                  <a:srgbClr val="FFFFFF"/>
                </a:solidFill>
                <a:ea typeface="ONE Mobile Title OTF"/>
              </a:rPr>
              <a:t>김</a:t>
            </a:r>
            <a:r>
              <a:rPr lang="en-US" sz="3600" b="false" i="false" u="none" strike="noStrike" spc="1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3600" b="false" i="false" u="none" strike="noStrike" spc="100">
                <a:solidFill>
                  <a:srgbClr val="FFFFFF"/>
                </a:solidFill>
                <a:ea typeface="ONE Mobile Title OTF"/>
              </a:rPr>
              <a:t>재</a:t>
            </a:r>
            <a:r>
              <a:rPr lang="en-US" sz="3600" b="false" i="false" u="none" strike="noStrike" spc="1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3600" b="false" i="false" u="none" strike="noStrike" spc="100">
                <a:solidFill>
                  <a:srgbClr val="FFFFFF"/>
                </a:solidFill>
                <a:ea typeface="ONE Mobile Title OTF"/>
              </a:rPr>
              <a:t>훈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680200" y="3822700"/>
            <a:ext cx="4927600" cy="5664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680200" y="3822700"/>
            <a:ext cx="4953000" cy="1181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7404100" y="4089400"/>
            <a:ext cx="3479800" cy="635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3600" b="false" i="false" u="none" strike="noStrike" spc="100">
                <a:solidFill>
                  <a:srgbClr val="FFFFFF"/>
                </a:solidFill>
                <a:ea typeface="ONE Mobile Title OTF"/>
              </a:rPr>
              <a:t>이</a:t>
            </a:r>
            <a:r>
              <a:rPr lang="en-US" sz="3600" b="false" i="false" u="none" strike="noStrike" spc="1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3600" b="false" i="false" u="none" strike="noStrike" spc="100">
                <a:solidFill>
                  <a:srgbClr val="FFFFFF"/>
                </a:solidFill>
                <a:ea typeface="ONE Mobile Title OTF"/>
              </a:rPr>
              <a:t>선</a:t>
            </a:r>
            <a:r>
              <a:rPr lang="en-US" sz="3600" b="false" i="false" u="none" strike="noStrike" spc="1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3600" b="false" i="false" u="none" strike="noStrike" spc="100">
                <a:solidFill>
                  <a:srgbClr val="FFFFFF"/>
                </a:solidFill>
                <a:ea typeface="ONE Mobile Title OTF"/>
              </a:rPr>
              <a:t>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7000" y="5105400"/>
            <a:ext cx="4610100" cy="410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이번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펫병원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플랫폼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프로젝트를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Spring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프레임워크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기반의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웹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애플리케이션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구조와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JSP, MyBatis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활용한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백엔드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개발에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대한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실무적인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경험을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쌓을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있었습니다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또한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팀원과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협업하여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회원가입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마이페이지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펫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등록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수정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기능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구현하며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백엔드와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프론트엔드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간의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연동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방식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유효성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검사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, DB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부분에서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실력을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키울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있었습니다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다만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협업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과정에서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GitHub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형상관리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도구를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사용하지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않고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zip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파일을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주고받는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방식으로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작업을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진행하다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보니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통합이나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충돌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처리에서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어려움을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겪는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일이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있었습니다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앞으로는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Git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GitHub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활용하여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버전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관리를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체계적으로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진행하고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협업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효율성과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관리의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안정성을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높이기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위한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노력을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기울일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계획입니다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이번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프로젝트는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직접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설계하고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구현해보며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개발자로서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단계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성장할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있었던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좋은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기회이자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의미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시간이었습니다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ctr" lvl="0">
              <a:lnSpc>
                <a:spcPct val="128650"/>
              </a:lnSpc>
            </a:pP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32600" y="4991100"/>
            <a:ext cx="4622800" cy="4318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이번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JSP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프로젝트에서는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'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마이펫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메디컬센터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'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홈페이지의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메인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(View)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제작에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중점을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두었습니다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. </a:t>
            </a:r>
          </a:p>
          <a:p>
            <a:pPr algn="ctr" lvl="0">
              <a:lnSpc>
                <a:spcPct val="128650"/>
              </a:lnSpc>
            </a:pP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메인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화면은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사용자가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처음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접하는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부분으로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병원의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신뢰성과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편의성을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동시에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전달해야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하는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중요한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역할을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한다고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판단했습니다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입장에서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보이는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(UI)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단순히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예쁘기만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해서는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안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되며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전달과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사용성이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모두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중요하다는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것을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체감하고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JSP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파일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내에서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동적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데이터를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깔끔하게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표현하기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위한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JSTL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사용법을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익히고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반복문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조건문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처리에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대한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이해도를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높일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있었습니다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마지막으로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디자인적으로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아쉬운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부분은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있지만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기초적인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웹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설계와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역량을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키울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좋은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00" b="false" i="false" u="none" strike="noStrike">
                <a:solidFill>
                  <a:srgbClr val="000000"/>
                </a:solidFill>
                <a:ea typeface="Pretendard Regular"/>
              </a:rPr>
              <a:t>기회였습니다</a:t>
            </a:r>
            <a:r>
              <a:rPr lang="en-US" sz="17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06300" y="4965700"/>
            <a:ext cx="4610100" cy="438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이번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프로젝트에서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저는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마이페이지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기능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구현을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담당했습니다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.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마이페이지는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사용자가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자신의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정보를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확인하고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수정하며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등록된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반려동물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목록을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관리할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공간으로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경험에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있어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중요한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역할을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하는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기능입니다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처음에는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정보를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효율적으로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불러오고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수정할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있도록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정보를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DB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에서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조회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업데이트하는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구현했습니다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. 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편의성을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고려해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이메일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전화번호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주요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필드에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대해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입력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형식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검사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유효성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검증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로직도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추가했습니다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마이페이지는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단순한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페이지를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넘어서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관리와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펫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관리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통합하는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허브로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작동해야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했기에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많은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테스트와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반복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수정이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필요했습니다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.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과정을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저는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Spring MVC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구조에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대한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이해는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물론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중심의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기능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설계와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디버깅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능력도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크게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향상시킬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있었습니다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경험은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현업에서도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관리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구현할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때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큰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도움이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될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것이라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생각하며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프론트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백엔드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전반을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아우르는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통합적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사고와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능력을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기를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좋은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false" i="false" u="none" strike="noStrike">
                <a:solidFill>
                  <a:srgbClr val="000000"/>
                </a:solidFill>
                <a:ea typeface="Pretendard Regular"/>
              </a:rPr>
              <a:t>기회였습니다</a:t>
            </a: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ctr" lvl="0">
              <a:lnSpc>
                <a:spcPct val="128650"/>
              </a:lnSpc>
            </a:pPr>
            <a:r>
              <a:rPr lang="en-US" sz="1400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0" y="571500"/>
            <a:ext cx="3860800" cy="76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91400" y="571500"/>
            <a:ext cx="3860800" cy="76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41800" y="571500"/>
            <a:ext cx="38608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0" y="330200"/>
            <a:ext cx="48768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130300"/>
            <a:ext cx="18288000" cy="915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60400" y="1358900"/>
            <a:ext cx="17335500" cy="8204200"/>
          </a:xfrm>
          <a:prstGeom prst="rect">
            <a:avLst/>
          </a:prstGeom>
          <a:effectLst>
            <a:outerShdw dir="2700000" dist="252339" blurRad="669826">
              <a:srgbClr val="000000">
                <a:alpha val="10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2984500" y="2146300"/>
            <a:ext cx="123190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7200" b="false" i="false" u="none" strike="noStrike">
                <a:solidFill>
                  <a:srgbClr val="CFBFE6"/>
                </a:solidFill>
                <a:ea typeface="ONE Mobile Title OTF"/>
              </a:rPr>
              <a:t>자체</a:t>
            </a:r>
            <a:r>
              <a:rPr lang="en-US" sz="7200" b="false" i="false" u="none" strike="noStrike">
                <a:solidFill>
                  <a:srgbClr val="CFBFE6"/>
                </a:solidFill>
                <a:latin typeface="ONE Mobile Title OTF"/>
              </a:rPr>
              <a:t> </a:t>
            </a:r>
            <a:r>
              <a:rPr lang="ko-KR" sz="7200" b="false" i="false" u="none" strike="noStrike">
                <a:solidFill>
                  <a:srgbClr val="CFBFE6"/>
                </a:solidFill>
                <a:ea typeface="ONE Mobile Title OTF"/>
              </a:rPr>
              <a:t>평가</a:t>
            </a:r>
            <a:r>
              <a:rPr lang="en-US" sz="7200" b="false" i="false" u="none" strike="noStrike">
                <a:solidFill>
                  <a:srgbClr val="CFBFE6"/>
                </a:solidFill>
                <a:latin typeface="ONE Mobile Title OTF"/>
              </a:rPr>
              <a:t> </a:t>
            </a:r>
            <a:r>
              <a:rPr lang="ko-KR" sz="7200" b="false" i="false" u="none" strike="noStrike">
                <a:solidFill>
                  <a:srgbClr val="CFBFE6"/>
                </a:solidFill>
                <a:ea typeface="ONE Mobile Title OTF"/>
              </a:rPr>
              <a:t>의견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6600" y="635000"/>
            <a:ext cx="29972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en-US" sz="2400" b="false" i="false" u="none" strike="noStrike" spc="600">
                <a:solidFill>
                  <a:srgbClr val="FFFFFF"/>
                </a:solidFill>
                <a:latin typeface="Pretendard Bold"/>
              </a:rPr>
              <a:t>REVIEW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541000" y="3454400"/>
            <a:ext cx="4927600" cy="566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541000" y="3454400"/>
            <a:ext cx="4953000" cy="1181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0706100" y="4864100"/>
            <a:ext cx="4622800" cy="3860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이번에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마이펫병원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플랫폼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프로젝트를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팀원들과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함께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협업하며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웹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개발의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전반적인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경험할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있었습니다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.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스프링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레거시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환경을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기반으로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회원정보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관리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펫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등록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수정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구현하며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MVC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패턴과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MyBatis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연동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, DB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배웠던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기술들과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새로운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기능들도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찾아보면서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많은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걸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배웠던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시간이었습니다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아직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부족한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것들이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많다고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느껴지기도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하지만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많았던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오류와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이슈들을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팀원들과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해결하면서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문제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해결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능력과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협업의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중요성을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다시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한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번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느낄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소중한</a:t>
            </a: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Pretendard Regular"/>
              </a:rPr>
              <a:t>시간이었습니다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64900" y="3771900"/>
            <a:ext cx="3479800" cy="635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3600" b="false" i="false" u="none" strike="noStrike" spc="100">
                <a:solidFill>
                  <a:srgbClr val="FFFFFF"/>
                </a:solidFill>
                <a:ea typeface="ONE Mobile Title OTF"/>
              </a:rPr>
              <a:t>김</a:t>
            </a:r>
            <a:r>
              <a:rPr lang="en-US" sz="3600" b="false" i="false" u="none" strike="noStrike" spc="1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3600" b="false" i="false" u="none" strike="noStrike" spc="100">
                <a:solidFill>
                  <a:srgbClr val="FFFFFF"/>
                </a:solidFill>
                <a:ea typeface="ONE Mobile Title OTF"/>
              </a:rPr>
              <a:t>용</a:t>
            </a:r>
            <a:r>
              <a:rPr lang="en-US" sz="3600" b="false" i="false" u="none" strike="noStrike" spc="1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3600" b="false" i="false" u="none" strike="noStrike" spc="100">
                <a:solidFill>
                  <a:srgbClr val="FFFFFF"/>
                </a:solidFill>
                <a:ea typeface="ONE Mobile Title OTF"/>
              </a:rPr>
              <a:t>철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149600" y="3454400"/>
            <a:ext cx="4927600" cy="5664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149600" y="3454400"/>
            <a:ext cx="4953000" cy="11811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3873500" y="3771900"/>
            <a:ext cx="3479800" cy="635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3600" b="false" i="false" u="none" strike="noStrike" spc="100">
                <a:solidFill>
                  <a:srgbClr val="FFFFFF"/>
                </a:solidFill>
                <a:ea typeface="ONE Mobile Title OTF"/>
              </a:rPr>
              <a:t>박</a:t>
            </a:r>
            <a:r>
              <a:rPr lang="en-US" sz="3600" b="false" i="false" u="none" strike="noStrike" spc="1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3600" b="false" i="false" u="none" strike="noStrike" spc="100">
                <a:solidFill>
                  <a:srgbClr val="FFFFFF"/>
                </a:solidFill>
                <a:ea typeface="ONE Mobile Title OTF"/>
              </a:rPr>
              <a:t>기</a:t>
            </a:r>
            <a:r>
              <a:rPr lang="en-US" sz="3600" b="false" i="false" u="none" strike="noStrike" spc="100">
                <a:solidFill>
                  <a:srgbClr val="FFFFFF"/>
                </a:solidFill>
                <a:latin typeface="ONE Mobile Title OTF"/>
              </a:rPr>
              <a:t> </a:t>
            </a:r>
            <a:r>
              <a:rPr lang="ko-KR" sz="3600" b="false" i="false" u="none" strike="noStrike" spc="100">
                <a:solidFill>
                  <a:srgbClr val="FFFFFF"/>
                </a:solidFill>
                <a:ea typeface="ONE Mobile Title OTF"/>
              </a:rPr>
              <a:t>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14700" y="4749800"/>
            <a:ext cx="4610100" cy="410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이번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프로젝트를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실전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경험의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중요성을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절실히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느꼈습니다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처음에는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스스로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해결하고자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했지만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예상보다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많은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부분에서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어려움을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겪으며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GPT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에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의존하게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되는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상황이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반복되었습니다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이를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계기로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단순히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정답을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얻는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것보다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문제를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이해하고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직접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해결하는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역량이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얼마나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중요한지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깨달았습니다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또한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수업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시간의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잦은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조퇴로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인해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기초가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부족하다는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점을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실감했습니다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.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실전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개발에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들어오니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놓쳤던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개념들이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발목을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잡았고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, 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앞으로는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기본기를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더욱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탄탄히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다지는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학습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방향으로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전환할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필요성을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느꼈습니다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28650"/>
              </a:lnSpc>
            </a:pP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이번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경험을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바탕으로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앞으로는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더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많은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실습과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반복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학습을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문제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해결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능력을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기르고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, 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기초부터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차근차근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쌓아가는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자세로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000000"/>
                </a:solidFill>
                <a:ea typeface="Pretendard Regular"/>
              </a:rPr>
              <a:t>임하겠습니다</a:t>
            </a:r>
            <a:r>
              <a:rPr lang="en-US" sz="1500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24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tjswls0147</cp:lastModifiedBy>
  <cp:version>9.104.190.51131</cp:version>
  <dcterms:modified xsi:type="dcterms:W3CDTF">2011-08-01T06:04:30Z</dcterms:modified>
</cp:coreProperties>
</file>